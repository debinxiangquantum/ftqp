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7" r:id="rId2"/>
    <p:sldId id="25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1" r:id="rId14"/>
    <p:sldId id="272" r:id="rId15"/>
    <p:sldId id="273" r:id="rId16"/>
    <p:sldId id="274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36"/>
    <p:restoredTop sz="94712"/>
  </p:normalViewPr>
  <p:slideViewPr>
    <p:cSldViewPr snapToGrid="0" snapToObjects="1">
      <p:cViewPr>
        <p:scale>
          <a:sx n="209" d="100"/>
          <a:sy n="209" d="100"/>
        </p:scale>
        <p:origin x="-120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1BB43-656D-F503-1ECB-374DF9A9A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1C951B-27B8-7673-54D3-2CA955B56F36}"/>
              </a:ext>
            </a:extLst>
          </p:cNvPr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AF2572-817C-5A5F-9405-FAB5C988A6F2}"/>
              </a:ext>
            </a:extLst>
          </p:cNvPr>
          <p:cNvSpPr txBox="1"/>
          <p:nvPr/>
        </p:nvSpPr>
        <p:spPr>
          <a:xfrm>
            <a:off x="502920" y="603504"/>
            <a:ext cx="11109960" cy="44031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lang="en-US" sz="2700" b="1" dirty="0">
                <a:solidFill>
                  <a:srgbClr val="17202A"/>
                </a:solidFill>
                <a:latin typeface="Microsoft YaHei"/>
              </a:rPr>
              <a:t>POPL </a:t>
            </a:r>
            <a:r>
              <a:rPr lang="en-US" sz="2700" b="1" dirty="0" err="1">
                <a:solidFill>
                  <a:srgbClr val="17202A"/>
                </a:solidFill>
                <a:latin typeface="Microsoft YaHei"/>
              </a:rPr>
              <a:t>研究分类</a:t>
            </a:r>
            <a:endParaRPr sz="27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A3E6F7-B06D-3B3A-F286-C9507A479ED4}"/>
              </a:ext>
            </a:extLst>
          </p:cNvPr>
          <p:cNvSpPr/>
          <p:nvPr/>
        </p:nvSpPr>
        <p:spPr>
          <a:xfrm>
            <a:off x="502920" y="6082596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7E085-9256-BE99-3AE8-346955F4D91F}"/>
              </a:ext>
            </a:extLst>
          </p:cNvPr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Molavi et al., POPL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9C2D54-167B-BE8A-B01B-6AB09B37D0C3}"/>
              </a:ext>
            </a:extLst>
          </p:cNvPr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02 / 60</a:t>
            </a:r>
          </a:p>
        </p:txBody>
      </p:sp>
      <p:sp>
        <p:nvSpPr>
          <p:cNvPr id="21" name="Bullets">
            <a:extLst>
              <a:ext uri="{FF2B5EF4-FFF2-40B4-BE49-F238E27FC236}">
                <a16:creationId xmlns:a16="http://schemas.microsoft.com/office/drawing/2014/main" id="{A153FA6F-B024-DAFD-A536-3D1A85947D2F}"/>
              </a:ext>
            </a:extLst>
          </p:cNvPr>
          <p:cNvSpPr txBox="1"/>
          <p:nvPr/>
        </p:nvSpPr>
        <p:spPr>
          <a:xfrm>
            <a:off x="705612" y="1582177"/>
            <a:ext cx="10780776" cy="1904923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/>
          <a:lstStyle/>
          <a:p>
            <a:pPr marL="342900" indent="-342900" algn="l">
              <a:lnSpc>
                <a:spcPct val="108000"/>
              </a:lnSpc>
              <a:buAutoNum type="arabicPeriod"/>
            </a:pPr>
            <a:r>
              <a:rPr lang="zh-CN" altLang="en-US" sz="1800" kern="1200" dirty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编译、后端与优化：QMR </a:t>
            </a:r>
            <a:r>
              <a:rPr lang="en-US" altLang="zh-CN" sz="1800" kern="1200" dirty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generator</a:t>
            </a:r>
            <a:r>
              <a:rPr lang="zh-CN" altLang="en-US" sz="1800" kern="1200" dirty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、analog compilation、verified optimizer、relational analysis。</a:t>
            </a:r>
            <a:endParaRPr lang="en-US" altLang="zh-CN" sz="1800" kern="1200" dirty="0">
              <a:solidFill>
                <a:srgbClr val="1F2933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8000"/>
              </a:lnSpc>
            </a:pPr>
            <a:endParaRPr lang="en-US" altLang="zh-CN" dirty="0">
              <a:solidFill>
                <a:srgbClr val="1F2933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8000"/>
              </a:lnSpc>
            </a:pPr>
            <a:r>
              <a:rPr lang="zh-CN" altLang="en-US" b="1" dirty="0">
                <a:solidFill>
                  <a:srgbClr val="183A5A"/>
                </a:solidFill>
                <a:latin typeface="微软雅黑"/>
                <a:ea typeface="微软雅黑"/>
                <a:cs typeface="微软雅黑"/>
              </a:rPr>
              <a:t>用类型、effect 和 lifetime 管理量子资源、信息变化和电路规模。</a:t>
            </a:r>
            <a:endParaRPr lang="zh-CN" altLang="en-US" sz="1800" kern="1200" dirty="0">
              <a:solidFill>
                <a:srgbClr val="1F293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</a:pPr>
            <a:r>
              <a:rPr lang="zh-CN" altLang="en-US" sz="1800" kern="1200" dirty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2. 类型、效果与资源：indexed monads、resource bounds、lifetime、information effects、purity。</a:t>
            </a:r>
            <a:endParaRPr lang="en-US" altLang="zh-CN" sz="1800" kern="1200" dirty="0">
              <a:solidFill>
                <a:srgbClr val="1F293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</a:pPr>
            <a:endParaRPr lang="en-US" altLang="zh-CN" sz="1800" kern="1200" dirty="0">
              <a:solidFill>
                <a:srgbClr val="1F2933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8000"/>
              </a:lnSpc>
            </a:pPr>
            <a:r>
              <a:rPr lang="zh-CN" altLang="en-US" b="1" dirty="0">
                <a:solidFill>
                  <a:srgbClr val="183A5A"/>
                </a:solidFill>
                <a:latin typeface="微软雅黑"/>
                <a:ea typeface="微软雅黑"/>
                <a:cs typeface="微软雅黑"/>
              </a:rPr>
              <a:t>用程序逻辑、断言语言和 proof assistant 恢复可组合证明。</a:t>
            </a:r>
            <a:endParaRPr lang="zh-CN" altLang="en-US" sz="1800" kern="1200" dirty="0">
              <a:solidFill>
                <a:srgbClr val="1F293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</a:pPr>
            <a:r>
              <a:rPr lang="zh-CN" altLang="en-US" sz="1800" kern="1200" dirty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3. 逻辑、证明与局部性：Dirac rewriting、relational logic、QSL/RapunSL、assertions、CoqQ。</a:t>
            </a:r>
            <a:endParaRPr lang="en-US" altLang="zh-CN" sz="1800" kern="1200" dirty="0">
              <a:solidFill>
                <a:srgbClr val="1F293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</a:pPr>
            <a:endParaRPr lang="en-US" altLang="zh-CN" sz="1800" kern="1200" dirty="0">
              <a:solidFill>
                <a:srgbClr val="1F2933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8000"/>
              </a:lnSpc>
            </a:pPr>
            <a:r>
              <a:rPr lang="zh-CN" altLang="en-US" b="1" dirty="0">
                <a:solidFill>
                  <a:srgbClr val="183A5A"/>
                </a:solidFill>
                <a:latin typeface="微软雅黑"/>
                <a:ea typeface="微软雅黑"/>
                <a:cs typeface="微软雅黑"/>
              </a:rPr>
              <a:t>把量子计算对象提升为语言 构造，并给出 denotational/equational semantics。</a:t>
            </a:r>
            <a:endParaRPr lang="zh-CN" altLang="en-US" sz="1800" kern="1200" dirty="0">
              <a:solidFill>
                <a:srgbClr val="1F293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</a:pPr>
            <a:r>
              <a:rPr lang="zh-CN" altLang="en-US" sz="1800" kern="1200" dirty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4. 语言设计与语义模型：Qunity、phase language、LambdaPC、Proto-Quipper、higher-order semantics。</a:t>
            </a:r>
            <a:endParaRPr lang="en-US" altLang="zh-CN" sz="1800" kern="1200" dirty="0">
              <a:solidFill>
                <a:srgbClr val="1F293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</a:pPr>
            <a:endParaRPr lang="en-US" altLang="zh-CN" dirty="0">
              <a:solidFill>
                <a:srgbClr val="1F2933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8000"/>
              </a:lnSpc>
            </a:pPr>
            <a:r>
              <a:rPr lang="zh-CN" altLang="en-US" b="1" dirty="0">
                <a:solidFill>
                  <a:srgbClr val="183A5A"/>
                </a:solidFill>
                <a:latin typeface="微软雅黑"/>
                <a:ea typeface="微软雅黑"/>
                <a:cs typeface="微软雅黑"/>
              </a:rPr>
              <a:t>用 minimal extensions、bisimulation、automata 和 synthesis 建立可判定或完备框架。</a:t>
            </a:r>
            <a:endParaRPr lang="zh-CN" altLang="en-US" sz="1800" kern="1200" dirty="0">
              <a:solidFill>
                <a:srgbClr val="1F293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</a:pPr>
            <a:r>
              <a:rPr lang="zh-CN" altLang="en-US" sz="1800" kern="1200" dirty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5. 可逆/范畴理论与自动化：Π 系列、bisimilarity、LSTA/SWTA、QSynth。</a:t>
            </a:r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4988F9A4-9E69-B1FB-F4B6-5D53AE7A435C}"/>
              </a:ext>
            </a:extLst>
          </p:cNvPr>
          <p:cNvSpPr txBox="1"/>
          <p:nvPr/>
        </p:nvSpPr>
        <p:spPr>
          <a:xfrm>
            <a:off x="705612" y="1279724"/>
            <a:ext cx="10058400" cy="440313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/>
          <a:lstStyle/>
          <a:p>
            <a:pPr>
              <a:lnSpc>
                <a:spcPct val="108000"/>
              </a:lnSpc>
            </a:pPr>
            <a:r>
              <a:rPr lang="zh-CN" altLang="en-US" b="1" kern="1200" dirty="0">
                <a:solidFill>
                  <a:srgbClr val="183A5A"/>
                </a:solidFill>
                <a:latin typeface="微软雅黑"/>
                <a:ea typeface="微软雅黑"/>
                <a:cs typeface="微软雅黑"/>
              </a:rPr>
              <a:t>把硬件/后端差异变成 DSL、IR 或静态分析问题。</a:t>
            </a:r>
          </a:p>
        </p:txBody>
      </p:sp>
    </p:spTree>
    <p:extLst>
      <p:ext uri="{BB962C8B-B14F-4D97-AF65-F5344CB8AC3E}">
        <p14:creationId xmlns:p14="http://schemas.microsoft.com/office/powerpoint/2010/main" val="284061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420624"/>
            <a:ext cx="16459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POPL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32688"/>
            <a:ext cx="1554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EAF7FF"/>
                </a:solidFill>
                <a:latin typeface="Microsoft YaHei"/>
              </a:rPr>
              <a:t>paper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48640"/>
            <a:ext cx="8046720" cy="8024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500" b="1" dirty="0">
                <a:solidFill>
                  <a:srgbClr val="17202A"/>
                </a:solidFill>
                <a:latin typeface="Microsoft YaHei"/>
              </a:rPr>
              <a:t>Generating Compilers for Qubit Mapping and Routing</a:t>
            </a:r>
            <a:r>
              <a:rPr lang="en-US" sz="2500" b="1" dirty="0">
                <a:solidFill>
                  <a:srgbClr val="17202A"/>
                </a:solidFill>
                <a:latin typeface="Microsoft YaHei"/>
              </a:rPr>
              <a:t> (QMR)</a:t>
            </a:r>
            <a:endParaRPr sz="25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52928" y="1649479"/>
            <a:ext cx="5852160" cy="591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lnSpc>
                <a:spcPct val="103000"/>
              </a:lnSpc>
            </a:pPr>
            <a:r>
              <a:rPr sz="1800" b="1" dirty="0">
                <a:solidFill>
                  <a:srgbClr val="1F6FB8"/>
                </a:solidFill>
                <a:latin typeface="Microsoft YaHei"/>
              </a:rPr>
              <a:t>Molavi et al.,</a:t>
            </a:r>
            <a:r>
              <a:rPr lang="en-US" b="1" dirty="0">
                <a:solidFill>
                  <a:srgbClr val="1F6FB8"/>
                </a:solidFill>
                <a:latin typeface="Microsoft YaHei"/>
              </a:rPr>
              <a:t> University of Wisconsin-Madison</a:t>
            </a:r>
            <a:r>
              <a:rPr sz="1800" b="1" dirty="0">
                <a:solidFill>
                  <a:srgbClr val="1F6FB8"/>
                </a:solidFill>
                <a:latin typeface="Microsoft YaHei"/>
              </a:rPr>
              <a:t> POPL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2928" y="2286000"/>
            <a:ext cx="766267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52928" y="2606040"/>
            <a:ext cx="768096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000" b="1" dirty="0" err="1">
                <a:solidFill>
                  <a:srgbClr val="0B2F5B"/>
                </a:solidFill>
                <a:latin typeface="Microsoft YaHei"/>
              </a:rPr>
              <a:t>论文把</a:t>
            </a:r>
            <a:r>
              <a:rPr sz="2000" b="1" dirty="0">
                <a:solidFill>
                  <a:srgbClr val="0B2F5B"/>
                </a:solidFill>
                <a:latin typeface="Microsoft YaHei"/>
              </a:rPr>
              <a:t> QMR </a:t>
            </a:r>
            <a:r>
              <a:rPr sz="2000" b="1" dirty="0" err="1">
                <a:solidFill>
                  <a:srgbClr val="0B2F5B"/>
                </a:solidFill>
                <a:latin typeface="Microsoft YaHei"/>
              </a:rPr>
              <a:t>从“为每种硬件手写编译器”改写成“写规格并生成编译器</a:t>
            </a:r>
            <a:r>
              <a:rPr sz="2000" b="1" dirty="0">
                <a:solidFill>
                  <a:srgbClr val="0B2F5B"/>
                </a:solidFill>
                <a:latin typeface="Microsoft YaHei"/>
              </a:rPr>
              <a:t>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458639"/>
            <a:ext cx="4480560" cy="7107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800">
                <a:solidFill>
                  <a:srgbClr val="17202A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任务：qubit</a:t>
            </a:r>
            <a:r>
              <a:rPr dirty="0"/>
              <a:t> mapping and routing</a:t>
            </a:r>
          </a:p>
          <a:p>
            <a:pPr>
              <a:lnSpc>
                <a:spcPct val="103000"/>
              </a:lnSpc>
              <a:spcAft>
                <a:spcPts val="500"/>
              </a:spcAft>
              <a:defRPr sz="1800">
                <a:solidFill>
                  <a:srgbClr val="17202A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工具：Amaro</a:t>
            </a:r>
            <a:r>
              <a:rPr dirty="0"/>
              <a:t> </a:t>
            </a:r>
            <a:r>
              <a:rPr dirty="0" err="1"/>
              <a:t>规格语言与求解器</a:t>
            </a:r>
            <a:endParaRPr dirty="0"/>
          </a:p>
        </p:txBody>
      </p:sp>
      <p:pic>
        <p:nvPicPr>
          <p:cNvPr id="11" name="Picture 10" descr="molavi_overview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348" y="4308778"/>
            <a:ext cx="8414871" cy="14982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327648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01 / 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QMR compiler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QMR 决定量子程序能否低错误地落到硬件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 dirty="0" err="1">
                <a:solidFill>
                  <a:srgbClr val="0B2F5B"/>
                </a:solidFill>
                <a:latin typeface="Microsoft YaHei"/>
              </a:rPr>
              <a:t>量子线路是架构无关的，但真实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QPU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有连接、错误率和执行并行度限制，编译质量直接影响错误概率与运行时间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Molavi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02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47996"/>
            <a:ext cx="5760720" cy="2413367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olavi_cas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30294"/>
            <a:ext cx="5577840" cy="22311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53150" y="1947996"/>
            <a:ext cx="4437334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lang="en-US" altLang="zh-CN" dirty="0">
                <a:solidFill>
                  <a:srgbClr val="5C6B7A"/>
                </a:solidFill>
                <a:latin typeface="Microsoft YaHei"/>
              </a:rPr>
              <a:t>QMR</a:t>
            </a:r>
            <a:r>
              <a:rPr lang="zh-CN" altLang="en-US" dirty="0">
                <a:solidFill>
                  <a:srgbClr val="5C6B7A"/>
                </a:solidFill>
                <a:latin typeface="Microsoft YaHei"/>
              </a:rPr>
              <a:t> 约束</a:t>
            </a:r>
            <a:endParaRPr sz="1800" b="0" dirty="0">
              <a:solidFill>
                <a:srgbClr val="5C6B7A"/>
              </a:solidFill>
              <a:latin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627617" y="2307940"/>
            <a:ext cx="4462867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22006" y="2381092"/>
            <a:ext cx="4074087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7202A"/>
                </a:solidFill>
                <a:latin typeface="Microsoft YaHei"/>
              </a:rPr>
              <a:t>线路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qubit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需要映射到设备位置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27617" y="2798391"/>
            <a:ext cx="4462867" cy="384048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22006" y="2871543"/>
            <a:ext cx="4074087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7202A"/>
                </a:solidFill>
                <a:latin typeface="Microsoft YaHei"/>
              </a:rPr>
              <a:t>双量子门受硬件连接约束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627617" y="3292998"/>
            <a:ext cx="4462867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22006" y="3366150"/>
            <a:ext cx="4074087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7202A"/>
                </a:solidFill>
                <a:latin typeface="Microsoft YaHei"/>
              </a:rPr>
              <a:t>swap、shuttle、path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都会增加代价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27617" y="3818353"/>
            <a:ext cx="4462867" cy="384048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22006" y="3891505"/>
            <a:ext cx="4074087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7202A"/>
                </a:solidFill>
                <a:latin typeface="Microsoft YaHei"/>
              </a:rPr>
              <a:t>更长执行</a:t>
            </a:r>
            <a:r>
              <a:rPr lang="en-US" b="1" dirty="0" err="1">
                <a:solidFill>
                  <a:srgbClr val="17202A"/>
                </a:solidFill>
                <a:latin typeface="Microsoft YaHei"/>
              </a:rPr>
              <a:t>时间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意味着更高逻辑错误风险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527F525F-0619-F4FD-B328-CB39DAEB765E}"/>
              </a:ext>
            </a:extLst>
          </p:cNvPr>
          <p:cNvSpPr/>
          <p:nvPr/>
        </p:nvSpPr>
        <p:spPr>
          <a:xfrm>
            <a:off x="502920" y="4526280"/>
            <a:ext cx="54864" cy="4114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4DA7EF3F-4240-4ACB-F502-26AA419AF7E6}"/>
              </a:ext>
            </a:extLst>
          </p:cNvPr>
          <p:cNvSpPr txBox="1"/>
          <p:nvPr/>
        </p:nvSpPr>
        <p:spPr>
          <a:xfrm>
            <a:off x="658368" y="4507992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 dirty="0" err="1">
                <a:solidFill>
                  <a:srgbClr val="0B2F5B"/>
                </a:solidFill>
                <a:latin typeface="Microsoft YaHei"/>
              </a:rPr>
              <a:t>前人工作通常围绕某一类硬件或约束单独设计算法，导致每出现一种架构变体就要重新建模和调启发式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。</a:t>
            </a:r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CBE3BAEE-ADB8-974C-49AA-546F32003ADA}"/>
              </a:ext>
            </a:extLst>
          </p:cNvPr>
          <p:cNvSpPr/>
          <p:nvPr/>
        </p:nvSpPr>
        <p:spPr>
          <a:xfrm>
            <a:off x="370653" y="5362973"/>
            <a:ext cx="3211763" cy="671855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F3C968D9-62CC-2707-13D6-796BC83EF05B}"/>
              </a:ext>
            </a:extLst>
          </p:cNvPr>
          <p:cNvSpPr txBox="1"/>
          <p:nvPr/>
        </p:nvSpPr>
        <p:spPr>
          <a:xfrm>
            <a:off x="557785" y="5384532"/>
            <a:ext cx="2906776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lang="zh-CN" altLang="en-US" sz="1800" b="1" dirty="0">
                <a:solidFill>
                  <a:srgbClr val="1F6FB8"/>
                </a:solidFill>
                <a:latin typeface="Microsoft YaHei"/>
              </a:rPr>
              <a:t>机制</a:t>
            </a:r>
            <a:endParaRPr sz="1800" b="1" dirty="0">
              <a:solidFill>
                <a:srgbClr val="1F6FB8"/>
              </a:solidFill>
              <a:latin typeface="Microsoft YaHei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7666ADBA-3DDA-0803-9F98-E9B0A030E350}"/>
              </a:ext>
            </a:extLst>
          </p:cNvPr>
          <p:cNvSpPr txBox="1"/>
          <p:nvPr/>
        </p:nvSpPr>
        <p:spPr>
          <a:xfrm>
            <a:off x="588212" y="5714668"/>
            <a:ext cx="3049068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17202A"/>
                </a:solidFill>
                <a:latin typeface="Microsoft YaHei"/>
              </a:rPr>
              <a:t>NISQ：A*、SAT/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MaxSAT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5C72F152-FFF4-F4B6-2886-8FA11D34E413}"/>
              </a:ext>
            </a:extLst>
          </p:cNvPr>
          <p:cNvSpPr/>
          <p:nvPr/>
        </p:nvSpPr>
        <p:spPr>
          <a:xfrm>
            <a:off x="8280316" y="5312644"/>
            <a:ext cx="3810086" cy="7765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FC4C97D0-BA91-C8D2-7558-38792F54E7C3}"/>
              </a:ext>
            </a:extLst>
          </p:cNvPr>
          <p:cNvSpPr txBox="1"/>
          <p:nvPr/>
        </p:nvSpPr>
        <p:spPr>
          <a:xfrm>
            <a:off x="8490309" y="5399938"/>
            <a:ext cx="3390587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F6FB8"/>
                </a:solidFill>
                <a:latin typeface="Microsoft YaHei"/>
              </a:rPr>
              <a:t>约束</a:t>
            </a:r>
            <a:r>
              <a:rPr lang="zh-CN" altLang="en-US" sz="1800" b="1" dirty="0">
                <a:solidFill>
                  <a:srgbClr val="1F6FB8"/>
                </a:solidFill>
                <a:latin typeface="Microsoft YaHei"/>
              </a:rPr>
              <a:t>假设</a:t>
            </a:r>
            <a:endParaRPr sz="1800" b="1" dirty="0">
              <a:solidFill>
                <a:srgbClr val="1F6FB8"/>
              </a:solidFill>
              <a:latin typeface="Microsoft YaHei"/>
            </a:endParaRP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F801F0AB-5A0F-B0D7-468B-D5ADD422AF50}"/>
              </a:ext>
            </a:extLst>
          </p:cNvPr>
          <p:cNvSpPr txBox="1"/>
          <p:nvPr/>
        </p:nvSpPr>
        <p:spPr>
          <a:xfrm>
            <a:off x="8488731" y="5715976"/>
            <a:ext cx="3601670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17202A"/>
                </a:solidFill>
                <a:latin typeface="Microsoft YaHei"/>
              </a:rPr>
              <a:t>Surface code</a:t>
            </a:r>
            <a:r>
              <a:rPr lang="zh-CN" altLang="en-US" sz="1800" b="1" dirty="0">
                <a:solidFill>
                  <a:srgbClr val="17202A"/>
                </a:solidFill>
                <a:latin typeface="Microsoft YaHei"/>
              </a:rPr>
              <a:t>，</a:t>
            </a:r>
            <a:r>
              <a:rPr lang="en-US" altLang="zh-CN" sz="1800" b="1" dirty="0">
                <a:solidFill>
                  <a:srgbClr val="17202A"/>
                </a:solidFill>
                <a:latin typeface="Microsoft YaHei"/>
              </a:rPr>
              <a:t>Lattice</a:t>
            </a:r>
            <a:r>
              <a:rPr lang="zh-CN" altLang="en-US" sz="1800" b="1" dirty="0">
                <a:solidFill>
                  <a:srgbClr val="17202A"/>
                </a:solidFill>
                <a:latin typeface="Microsoft YaHei"/>
              </a:rPr>
              <a:t> </a:t>
            </a:r>
            <a:r>
              <a:rPr lang="en-US" altLang="zh-CN" sz="1800" b="1" dirty="0">
                <a:solidFill>
                  <a:srgbClr val="17202A"/>
                </a:solidFill>
                <a:latin typeface="Microsoft YaHei"/>
              </a:rPr>
              <a:t>surgery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30" name="Rounded Rectangle 15">
            <a:extLst>
              <a:ext uri="{FF2B5EF4-FFF2-40B4-BE49-F238E27FC236}">
                <a16:creationId xmlns:a16="http://schemas.microsoft.com/office/drawing/2014/main" id="{0CABB4FB-A829-226D-A13C-A59C569B4AE4}"/>
              </a:ext>
            </a:extLst>
          </p:cNvPr>
          <p:cNvSpPr/>
          <p:nvPr/>
        </p:nvSpPr>
        <p:spPr>
          <a:xfrm>
            <a:off x="3799975" y="5314999"/>
            <a:ext cx="4193464" cy="739041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B21F2192-8D72-D4A4-3EFA-C936814A3B57}"/>
              </a:ext>
            </a:extLst>
          </p:cNvPr>
          <p:cNvSpPr txBox="1"/>
          <p:nvPr/>
        </p:nvSpPr>
        <p:spPr>
          <a:xfrm>
            <a:off x="3982534" y="5380753"/>
            <a:ext cx="3985893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lang="zh-CN" altLang="en-US" sz="1800" b="1" dirty="0">
                <a:solidFill>
                  <a:srgbClr val="1F6FB8"/>
                </a:solidFill>
                <a:latin typeface="Microsoft YaHei"/>
              </a:rPr>
              <a:t>对象</a:t>
            </a:r>
            <a:endParaRPr sz="1800" b="1" dirty="0">
              <a:solidFill>
                <a:srgbClr val="1F6FB8"/>
              </a:solidFill>
              <a:latin typeface="Microsoft YaHei"/>
            </a:endParaRP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F821DF19-60EC-05DB-AD78-5000F03FDB52}"/>
              </a:ext>
            </a:extLst>
          </p:cNvPr>
          <p:cNvSpPr txBox="1"/>
          <p:nvPr/>
        </p:nvSpPr>
        <p:spPr>
          <a:xfrm>
            <a:off x="4017534" y="5718804"/>
            <a:ext cx="3925038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17202A"/>
                </a:solidFill>
                <a:latin typeface="Microsoft YaHei"/>
              </a:rPr>
              <a:t>Neutral atom</a:t>
            </a:r>
            <a:r>
              <a:rPr lang="zh-CN" altLang="en-US" sz="1800" b="1" dirty="0">
                <a:solidFill>
                  <a:srgbClr val="17202A"/>
                </a:solidFill>
                <a:latin typeface="Microsoft YaHei"/>
              </a:rPr>
              <a:t>，</a:t>
            </a:r>
            <a:r>
              <a:rPr lang="en-US" altLang="zh-CN" sz="1800" b="1" dirty="0">
                <a:solidFill>
                  <a:srgbClr val="17202A"/>
                </a:solidFill>
                <a:latin typeface="Microsoft YaHei"/>
              </a:rPr>
              <a:t>Super</a:t>
            </a:r>
            <a:r>
              <a:rPr lang="en-US" altLang="zh-CN" b="1" dirty="0">
                <a:solidFill>
                  <a:srgbClr val="17202A"/>
                </a:solidFill>
                <a:latin typeface="Microsoft YaHei"/>
              </a:rPr>
              <a:t>conducting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QMR compiler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真正的难点是约束、代价和搜索空间同时变化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QMR 难在三层耦合：硬件约束决定哪些门可并行，代价函数定义优化目标，初始映射与路由选择造成组合爆炸。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Molavi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05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983" y="2267712"/>
            <a:ext cx="9966960" cy="402336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8151" y="2340864"/>
            <a:ext cx="94183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QMR 一般是 NP-hard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022" y="2834640"/>
            <a:ext cx="95554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58191" y="2907792"/>
            <a:ext cx="90068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SAT/constraint 方法不易扩展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7063" y="3401568"/>
            <a:ext cx="9144000" cy="402336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78231" y="3474720"/>
            <a:ext cx="85953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NISQ 目标常是少插 swap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7102" y="3968496"/>
            <a:ext cx="87325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98270" y="4041648"/>
            <a:ext cx="8183880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lang="en-US" altLang="zh-CN" sz="1800" b="1" dirty="0">
                <a:solidFill>
                  <a:srgbClr val="17202A"/>
                </a:solidFill>
                <a:latin typeface="Microsoft YaHei"/>
              </a:rPr>
              <a:t>Surface</a:t>
            </a:r>
            <a:r>
              <a:rPr lang="zh-CN" altLang="en-US" sz="1800" b="1" dirty="0">
                <a:solidFill>
                  <a:srgbClr val="17202A"/>
                </a:solidFill>
                <a:latin typeface="Microsoft YaHei"/>
              </a:rPr>
              <a:t> </a:t>
            </a:r>
            <a:r>
              <a:rPr lang="en-US" altLang="zh-CN" sz="1800" b="1" dirty="0">
                <a:solidFill>
                  <a:srgbClr val="17202A"/>
                </a:solidFill>
                <a:latin typeface="Microsoft YaHei"/>
              </a:rPr>
              <a:t>code</a:t>
            </a:r>
            <a:r>
              <a:rPr lang="zh-CN" altLang="en-US" sz="1800" b="1" dirty="0">
                <a:solidFill>
                  <a:srgbClr val="17202A"/>
                </a:solidFill>
                <a:latin typeface="Microsoft YaHei"/>
              </a:rPr>
              <a:t> 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MR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目标常是少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time steps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7142" y="4535424"/>
            <a:ext cx="8321040" cy="40233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18311" y="4608576"/>
            <a:ext cx="7772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路径冲突会破坏门级并行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Sec. 1, p.3；Sec. 2.2, pp.5-8；Sec. 5, p.15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QMR compiler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44031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 dirty="0" err="1">
                <a:solidFill>
                  <a:srgbClr val="17202A"/>
                </a:solidFill>
                <a:latin typeface="Microsoft YaHei"/>
              </a:rPr>
              <a:t>本文的核心</a:t>
            </a:r>
            <a:r>
              <a:rPr lang="zh-CN" altLang="en-US" sz="2700" b="1" dirty="0">
                <a:solidFill>
                  <a:srgbClr val="17202A"/>
                </a:solidFill>
                <a:latin typeface="Microsoft YaHei"/>
              </a:rPr>
              <a:t>思想</a:t>
            </a:r>
            <a:r>
              <a:rPr sz="2700" b="1" dirty="0" err="1">
                <a:solidFill>
                  <a:srgbClr val="17202A"/>
                </a:solidFill>
                <a:latin typeface="Microsoft YaHei"/>
              </a:rPr>
              <a:t>是抽象出状态机而不是重写算法</a:t>
            </a:r>
            <a:endParaRPr sz="27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8" y="1472184"/>
            <a:ext cx="54864" cy="4114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138074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 dirty="0">
                <a:solidFill>
                  <a:srgbClr val="0B2F5B"/>
                </a:solidFill>
                <a:latin typeface="Microsoft YaHei"/>
              </a:rPr>
              <a:t>Amaro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的目标不是找一个硬编码启发式适配所有硬件，而是让每个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QMR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问题只提供设备状态机的差异部分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Molavi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06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7417" y="2917055"/>
            <a:ext cx="3807229" cy="1694134"/>
          </a:xfrm>
          <a:prstGeom prst="roundRect">
            <a:avLst/>
          </a:prstGeom>
          <a:solidFill>
            <a:srgbClr val="1F6FB8"/>
          </a:solidFill>
          <a:ln w="1270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1737" y="3127367"/>
            <a:ext cx="3341038" cy="12866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3000"/>
              </a:lnSpc>
            </a:pPr>
            <a:r>
              <a:rPr sz="2000" b="1" dirty="0">
                <a:solidFill>
                  <a:srgbClr val="FFFFFF"/>
                </a:solidFill>
                <a:latin typeface="+mj-ea"/>
                <a:ea typeface="+mj-ea"/>
              </a:rPr>
              <a:t>Amaro </a:t>
            </a:r>
            <a:r>
              <a:rPr sz="2000" b="1" dirty="0" err="1">
                <a:solidFill>
                  <a:srgbClr val="FFFFFF"/>
                </a:solidFill>
                <a:latin typeface="+mj-ea"/>
                <a:ea typeface="+mj-ea"/>
              </a:rPr>
              <a:t>的目标不是找一个硬编码启发式适配所有硬件，而是让每个</a:t>
            </a:r>
            <a:r>
              <a:rPr sz="2000" b="1" dirty="0">
                <a:solidFill>
                  <a:srgbClr val="FFFFFF"/>
                </a:solidFill>
                <a:latin typeface="+mj-ea"/>
                <a:ea typeface="+mj-ea"/>
              </a:rPr>
              <a:t> QMR</a:t>
            </a: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</a:rPr>
              <a:t>根据当前硬件动态生成编译器</a:t>
            </a:r>
            <a:endParaRPr sz="20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8368" y="2514600"/>
            <a:ext cx="3063240" cy="71323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587752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87752"/>
            <a:ext cx="2514600" cy="58823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7202A"/>
                </a:solidFill>
                <a:latin typeface="Microsoft YaHei"/>
              </a:rPr>
              <a:t>抽象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QMR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统一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“</a:t>
            </a:r>
            <a:r>
              <a:rPr lang="zh-CN" altLang="en-US" sz="1800" b="1" dirty="0">
                <a:solidFill>
                  <a:srgbClr val="17202A"/>
                </a:solidFill>
                <a:latin typeface="Microsoft YaHei"/>
              </a:rPr>
              <a:t>多种编译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问</a:t>
            </a:r>
            <a:r>
              <a:rPr lang="zh-CN" altLang="en-US" sz="1800" b="1" dirty="0">
                <a:solidFill>
                  <a:srgbClr val="17202A"/>
                </a:solidFill>
                <a:latin typeface="Microsoft YaHei"/>
              </a:rPr>
              <a:t>题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2514600"/>
            <a:ext cx="3063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0184" y="2587752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8" y="2587752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DSL 表达架构特有约束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15968"/>
            <a:ext cx="3063240" cy="71323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4389120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89120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通用求解器由规格实例化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0456" y="4315968"/>
            <a:ext cx="3063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0184" y="4389120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8" y="4389120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七个案例验证表达力与效果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Contributions, pp.3-4；Table 1, p.3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QMR compiler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Amaro 的流水线把规格直接接到参数化求解器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一个 Amaro 程序定义 QMR 问题，生成的 Comp_P 接收 circuit 与 QPU graph，返回最小化目标下的状态序列候选。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Molavi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07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06930"/>
            <a:ext cx="6903720" cy="17276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molavi_amaro_nisqm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95" y="2705519"/>
            <a:ext cx="6795751" cy="291001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49807" y="2126287"/>
            <a:ext cx="51944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1643" y="2199439"/>
            <a:ext cx="4712481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17202A"/>
                </a:solidFill>
                <a:latin typeface="Microsoft YaHei"/>
              </a:rPr>
              <a:t>Architecture specification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用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Amaro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写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83989" y="2478024"/>
            <a:ext cx="51944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5825" y="2551176"/>
            <a:ext cx="4712481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7202A"/>
                </a:solidFill>
                <a:latin typeface="Microsoft YaHei"/>
              </a:rPr>
              <a:t>输入：quantum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circuit + QPU graph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EE510701-527E-B9CE-C0CE-88C38C3C8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22" y="2871184"/>
            <a:ext cx="8676596" cy="2043163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5498EF-0475-F105-E5D3-AAA4CC5EC00C}"/>
              </a:ext>
            </a:extLst>
          </p:cNvPr>
          <p:cNvGrpSpPr/>
          <p:nvPr/>
        </p:nvGrpSpPr>
        <p:grpSpPr>
          <a:xfrm>
            <a:off x="5223554" y="4372111"/>
            <a:ext cx="2840280" cy="796815"/>
            <a:chOff x="5261341" y="4866597"/>
            <a:chExt cx="2840280" cy="796815"/>
          </a:xfrm>
        </p:grpSpPr>
        <p:sp>
          <p:nvSpPr>
            <p:cNvPr id="18" name="Rounded Rectangle 17"/>
            <p:cNvSpPr/>
            <p:nvPr/>
          </p:nvSpPr>
          <p:spPr>
            <a:xfrm>
              <a:off x="5261341" y="4866597"/>
              <a:ext cx="2840280" cy="796815"/>
            </a:xfrm>
            <a:prstGeom prst="roundRect">
              <a:avLst/>
            </a:prstGeom>
            <a:solidFill>
              <a:srgbClr val="F4F8FB"/>
            </a:solidFill>
            <a:ln w="12700">
              <a:solidFill>
                <a:srgbClr val="AFC9D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346972" y="4969378"/>
              <a:ext cx="2576749" cy="591252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lnSpc>
                  <a:spcPct val="103000"/>
                </a:lnSpc>
              </a:pPr>
              <a:r>
                <a:rPr sz="1800" b="1" dirty="0">
                  <a:solidFill>
                    <a:srgbClr val="17202A"/>
                  </a:solidFill>
                  <a:latin typeface="Microsoft YaHei"/>
                </a:rPr>
                <a:t>Solver </a:t>
              </a:r>
              <a:r>
                <a:rPr sz="1800" b="1" dirty="0" err="1">
                  <a:solidFill>
                    <a:srgbClr val="17202A"/>
                  </a:solidFill>
                  <a:latin typeface="Microsoft YaHei"/>
                </a:rPr>
                <a:t>根据</a:t>
              </a:r>
              <a:r>
                <a:rPr sz="1800" b="1" dirty="0">
                  <a:solidFill>
                    <a:srgbClr val="17202A"/>
                  </a:solidFill>
                  <a:latin typeface="Microsoft YaHei"/>
                </a:rPr>
                <a:t> P </a:t>
              </a:r>
              <a:r>
                <a:rPr sz="1800" b="1" dirty="0" err="1">
                  <a:solidFill>
                    <a:srgbClr val="17202A"/>
                  </a:solidFill>
                  <a:latin typeface="Microsoft YaHei"/>
                </a:rPr>
                <a:t>实例化为</a:t>
              </a:r>
              <a:r>
                <a:rPr sz="1800" b="1" dirty="0">
                  <a:solidFill>
                    <a:srgbClr val="17202A"/>
                  </a:solidFill>
                  <a:latin typeface="Microsoft YaHei"/>
                </a:rPr>
                <a:t> </a:t>
              </a:r>
              <a:r>
                <a:rPr sz="1800" b="1" dirty="0" err="1">
                  <a:solidFill>
                    <a:srgbClr val="17202A"/>
                  </a:solidFill>
                  <a:latin typeface="Microsoft YaHei"/>
                </a:rPr>
                <a:t>Comp_P</a:t>
              </a:r>
              <a:endParaRPr sz="1800" b="1" dirty="0">
                <a:solidFill>
                  <a:srgbClr val="17202A"/>
                </a:solidFill>
                <a:latin typeface="Microsoft YaHe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molavi_nisqmr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941" y="1860350"/>
            <a:ext cx="6401659" cy="378939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QMR compiler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抽象模型用 Real 和 transition 捕获所有架构差异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63780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lnSpc>
                <a:spcPct val="103000"/>
              </a:lnSpc>
            </a:pPr>
            <a:r>
              <a:rPr sz="1900" b="1" dirty="0" err="1">
                <a:solidFill>
                  <a:srgbClr val="0B2F5B"/>
                </a:solidFill>
                <a:latin typeface="Microsoft YaHei"/>
              </a:rPr>
              <a:t>论文把架构差异压缩到两个对象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：</a:t>
            </a:r>
            <a:r>
              <a:rPr lang="en-US" altLang="zh-CN" sz="2000" b="1" dirty="0">
                <a:solidFill>
                  <a:srgbClr val="17202A"/>
                </a:solidFill>
                <a:latin typeface="Microsoft YaHei"/>
              </a:rPr>
              <a:t> Gate Realization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判定状态是否物理可实现，带代价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transition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定义状态如何前进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Molavi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08 / 60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D1D80BC-1779-0462-8B9B-13EEC040951C}"/>
              </a:ext>
            </a:extLst>
          </p:cNvPr>
          <p:cNvGrpSpPr/>
          <p:nvPr/>
        </p:nvGrpSpPr>
        <p:grpSpPr>
          <a:xfrm>
            <a:off x="502920" y="1993392"/>
            <a:ext cx="4989971" cy="1591056"/>
            <a:chOff x="502920" y="1993392"/>
            <a:chExt cx="4989971" cy="1591056"/>
          </a:xfrm>
        </p:grpSpPr>
        <p:sp>
          <p:nvSpPr>
            <p:cNvPr id="10" name="Rounded Rectangle 9"/>
            <p:cNvSpPr/>
            <p:nvPr/>
          </p:nvSpPr>
          <p:spPr>
            <a:xfrm>
              <a:off x="502920" y="1993392"/>
              <a:ext cx="4989971" cy="457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E1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01381" y="2066544"/>
              <a:ext cx="389462" cy="219456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lnSpc>
                  <a:spcPct val="103000"/>
                </a:lnSpc>
              </a:pPr>
              <a:r>
                <a:rPr sz="1800" b="1">
                  <a:solidFill>
                    <a:srgbClr val="1F6FB8"/>
                  </a:solidFill>
                  <a:latin typeface="Microsoft YaHei"/>
                </a:rPr>
                <a:t>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25065" y="2066544"/>
              <a:ext cx="4320586" cy="30591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>
                <a:lnSpc>
                  <a:spcPct val="103000"/>
                </a:lnSpc>
              </a:pPr>
              <a:r>
                <a:rPr lang="en-US" b="1" dirty="0">
                  <a:solidFill>
                    <a:srgbClr val="17202A"/>
                  </a:solidFill>
                  <a:latin typeface="Microsoft YaHei"/>
                </a:rPr>
                <a:t>Gate Realization</a:t>
              </a:r>
              <a:r>
                <a:rPr sz="1800" b="1" dirty="0">
                  <a:solidFill>
                    <a:srgbClr val="17202A"/>
                  </a:solidFill>
                  <a:latin typeface="Microsoft YaHei"/>
                </a:rPr>
                <a:t> </a:t>
              </a:r>
              <a:r>
                <a:rPr sz="1800" b="1" dirty="0" err="1">
                  <a:solidFill>
                    <a:srgbClr val="17202A"/>
                  </a:solidFill>
                  <a:latin typeface="Microsoft YaHei"/>
                </a:rPr>
                <a:t>描述</a:t>
              </a:r>
              <a:r>
                <a:rPr sz="1800" b="1" dirty="0">
                  <a:solidFill>
                    <a:srgbClr val="17202A"/>
                  </a:solidFill>
                  <a:latin typeface="Microsoft YaHei"/>
                </a:rPr>
                <a:t> gate </a:t>
              </a:r>
              <a:r>
                <a:rPr sz="1800" b="1" dirty="0" err="1">
                  <a:solidFill>
                    <a:srgbClr val="17202A"/>
                  </a:solidFill>
                  <a:latin typeface="Microsoft YaHei"/>
                </a:rPr>
                <a:t>合法性</a:t>
              </a:r>
              <a:endParaRPr sz="1800" b="1" dirty="0">
                <a:solidFill>
                  <a:srgbClr val="17202A"/>
                </a:solidFill>
                <a:latin typeface="Microsoft YaHei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02920" y="2560320"/>
              <a:ext cx="4989971" cy="457200"/>
            </a:xfrm>
            <a:prstGeom prst="roundRect">
              <a:avLst/>
            </a:prstGeom>
            <a:solidFill>
              <a:srgbClr val="F4F8FB"/>
            </a:solidFill>
            <a:ln w="12700">
              <a:solidFill>
                <a:srgbClr val="D3E1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1381" y="2633472"/>
              <a:ext cx="389462" cy="219456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lnSpc>
                  <a:spcPct val="103000"/>
                </a:lnSpc>
              </a:pPr>
              <a:r>
                <a:rPr sz="1800" b="1">
                  <a:solidFill>
                    <a:srgbClr val="1F6FB8"/>
                  </a:solidFill>
                  <a:latin typeface="Microsoft YaHei"/>
                </a:rPr>
                <a:t>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25065" y="2633472"/>
              <a:ext cx="4320586" cy="347472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lnSpc>
                  <a:spcPct val="103000"/>
                </a:lnSpc>
              </a:pPr>
              <a:r>
                <a:rPr sz="1800" b="1">
                  <a:solidFill>
                    <a:srgbClr val="17202A"/>
                  </a:solidFill>
                  <a:latin typeface="Microsoft YaHei"/>
                </a:rPr>
                <a:t>transition 描述 map 如何变化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02920" y="3127248"/>
              <a:ext cx="4989971" cy="457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E1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01381" y="3200400"/>
              <a:ext cx="389462" cy="219456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lnSpc>
                  <a:spcPct val="103000"/>
                </a:lnSpc>
              </a:pPr>
              <a:r>
                <a:rPr sz="1800" b="1">
                  <a:solidFill>
                    <a:srgbClr val="1F6FB8"/>
                  </a:solidFill>
                  <a:latin typeface="Microsoft YaHei"/>
                </a:rPr>
                <a:t>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25065" y="3200400"/>
              <a:ext cx="4320586" cy="30591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lnSpc>
                  <a:spcPct val="103000"/>
                </a:lnSpc>
              </a:pPr>
              <a:r>
                <a:rPr lang="en-US" sz="1800" b="1" dirty="0">
                  <a:solidFill>
                    <a:srgbClr val="17202A"/>
                  </a:solidFill>
                  <a:latin typeface="Microsoft YaHei"/>
                </a:rPr>
                <a:t>C</a:t>
              </a:r>
              <a:r>
                <a:rPr sz="1800" b="1" dirty="0">
                  <a:solidFill>
                    <a:srgbClr val="17202A"/>
                  </a:solidFill>
                  <a:latin typeface="Microsoft YaHei"/>
                </a:rPr>
                <a:t>ost</a:t>
              </a:r>
              <a:r>
                <a:rPr lang="zh-CN" altLang="en-US" sz="1800" b="1" dirty="0">
                  <a:solidFill>
                    <a:srgbClr val="17202A"/>
                  </a:solidFill>
                  <a:latin typeface="Microsoft YaHei"/>
                </a:rPr>
                <a:t>：描述目前状态机的性能值</a:t>
              </a:r>
              <a:endParaRPr sz="1800" b="1" dirty="0">
                <a:solidFill>
                  <a:srgbClr val="17202A"/>
                </a:solidFill>
                <a:latin typeface="Microsoft YaHei"/>
              </a:endParaRPr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502920" y="3927932"/>
            <a:ext cx="3154680" cy="621792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065092"/>
            <a:ext cx="2788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NISQ：相邻边 + swap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768012"/>
            <a:ext cx="3752754" cy="621792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4905172"/>
            <a:ext cx="3356742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7202A"/>
                </a:solidFill>
                <a:latin typeface="Microsoft YaHei"/>
              </a:rPr>
              <a:t>SCMR：不相交路径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+ identity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Def. 3.7-3.11, pp.11-12；Examples 3.9-3.10, pp.11-12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QMR compiler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DSL 把可实现性、转移和代价压缩到少量函数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62196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 dirty="0">
                <a:solidFill>
                  <a:srgbClr val="0B2F5B"/>
                </a:solidFill>
                <a:latin typeface="Microsoft YaHei"/>
              </a:rPr>
              <a:t>Amaro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不是通用建模语言，而是为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QMR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生成而设计的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constructive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DSL：函数直接返回可选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realizations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与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transiti</a:t>
            </a:r>
            <a:r>
              <a:rPr lang="en-US" sz="1900" b="1" dirty="0">
                <a:solidFill>
                  <a:srgbClr val="0B2F5B"/>
                </a:solidFill>
                <a:latin typeface="Microsoft YaHei"/>
              </a:rPr>
              <a:t>on</a:t>
            </a:r>
            <a:endParaRPr sz="1900" b="1" dirty="0">
              <a:solidFill>
                <a:srgbClr val="0B2F5B"/>
              </a:solidFill>
              <a:latin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Molavi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09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83" y="2176445"/>
            <a:ext cx="6877384" cy="3703320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537493" y="3156888"/>
            <a:ext cx="35478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92941" y="3230040"/>
            <a:ext cx="32186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7202A"/>
                </a:solidFill>
                <a:latin typeface="Microsoft YaHei"/>
              </a:rPr>
              <a:t>RouteInfo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定义门如何实现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37493" y="3723816"/>
            <a:ext cx="3547872" cy="4114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92941" y="3796968"/>
            <a:ext cx="32186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7202A"/>
                </a:solidFill>
                <a:latin typeface="Microsoft YaHei"/>
              </a:rPr>
              <a:t>TransitionInfo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定义可选转移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537493" y="4290744"/>
            <a:ext cx="35478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92941" y="4363896"/>
            <a:ext cx="32186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7202A"/>
                </a:solidFill>
                <a:latin typeface="Microsoft YaHei"/>
              </a:rPr>
              <a:t>ArchInfo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承载图标签和错误率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385F551-6AAE-2D5E-C6CD-311C5B969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83" y="2336551"/>
            <a:ext cx="6576767" cy="34424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QMR compiler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求解器贪心构造状态序列，并用搜索修正关键选择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AmaroP 每轮取 front layer，构造能并行执行尽量多门的 maximal state，再选择下一次 transition，直到所有指令被路由。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Molavi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10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2586294"/>
            <a:ext cx="3749039" cy="7363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" y="2732018"/>
            <a:ext cx="292608" cy="35343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692941"/>
            <a:ext cx="3246120" cy="5596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7202A"/>
                </a:solidFill>
                <a:latin typeface="Microsoft YaHei"/>
              </a:rPr>
              <a:t>每轮只看当前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front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" y="3153222"/>
            <a:ext cx="3749039" cy="736325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" y="3298946"/>
            <a:ext cx="292608" cy="35343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3259869"/>
            <a:ext cx="3246120" cy="5596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maximal state 尽量并行路由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" y="3720150"/>
            <a:ext cx="3749039" cy="7363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" y="3865874"/>
            <a:ext cx="292608" cy="35343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3826797"/>
            <a:ext cx="3246120" cy="5596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transition 选择看下一步收益减成本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874519"/>
            <a:ext cx="65836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molavi_amaro_nisqm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939" y="1833890"/>
            <a:ext cx="5976708" cy="2559296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614567" y="4708690"/>
            <a:ext cx="3154680" cy="910366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97447" y="4930725"/>
            <a:ext cx="2788920" cy="37485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初始 map 用 simulated annealing 搜索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97847" y="4708690"/>
            <a:ext cx="3154680" cy="91036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0727" y="4930725"/>
            <a:ext cx="2788920" cy="37485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结果是近似解而非最优证明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Algorithm 1, pp.15-16；Eq. (1), p.18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QMR compiler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形式语义保证返回解有效，但不承诺全局最优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Amaro 的形式语义把程序 P 解释为解集合；求解器有 soundness 和条件终止保证，但优化质量依赖启发式搜索。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Molavi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12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71700"/>
            <a:ext cx="5239827" cy="3063240"/>
          </a:xfrm>
          <a:prstGeom prst="roundRect">
            <a:avLst>
              <a:gd name="adj" fmla="val 5550"/>
            </a:avLst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354579"/>
            <a:ext cx="2103120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lang="zh-CN" altLang="en-US" sz="1800" b="1" dirty="0">
                <a:solidFill>
                  <a:srgbClr val="1F6FB8"/>
                </a:solidFill>
                <a:latin typeface="Microsoft YaHei"/>
              </a:rPr>
              <a:t>定义与证明</a:t>
            </a:r>
            <a:endParaRPr sz="1800" b="1" dirty="0">
              <a:solidFill>
                <a:srgbClr val="1F6FB8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26576" y="2348903"/>
            <a:ext cx="130587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F6FB8"/>
                </a:solidFill>
                <a:latin typeface="Microsoft YaHei"/>
              </a:rPr>
              <a:t>为什么重要</a:t>
            </a:r>
            <a:endParaRPr sz="1800" b="1" dirty="0">
              <a:solidFill>
                <a:srgbClr val="1F6FB8"/>
              </a:solidFill>
              <a:latin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85578" y="2770631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3836" y="2811780"/>
            <a:ext cx="2286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17202A"/>
                </a:solidFill>
                <a:latin typeface="Microsoft YaHei"/>
              </a:rPr>
              <a:t>Fig. 7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给出程序语义规则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26576" y="2811780"/>
            <a:ext cx="2015585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Fig. 7 给出程序语义规则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578" y="3300984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3836" y="3342132"/>
            <a:ext cx="2286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类型系统约束必需函数签名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6576" y="3342132"/>
            <a:ext cx="2015585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类型系统约束必需函数签名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578" y="3831335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3836" y="3872483"/>
            <a:ext cx="2286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Theorem 5.2：返回解属于语义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6576" y="3872483"/>
            <a:ext cx="2015585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Theorem 5.2：返回解属于语义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5578" y="4361687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3836" y="4402835"/>
            <a:ext cx="2286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Theorem 5.3：满足可达进展则终止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6576" y="4402835"/>
            <a:ext cx="2015585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Theorem 5.3：满足可达进展则终止</a:t>
            </a:r>
          </a:p>
        </p:txBody>
      </p:sp>
      <p:pic>
        <p:nvPicPr>
          <p:cNvPr id="26" name="Picture 25" descr="molavi_amaro_seman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35" y="1909704"/>
            <a:ext cx="5923684" cy="28648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QMR compiler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评估覆盖七类 QMR，而不是只调一个 NISQ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评估的说服力来自跨硬件案例：同一框架生成七类编译器，并与每类对应的专用工具或理论下界比较。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Molavi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13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2119461"/>
            <a:ext cx="3955465" cy="962067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9835" y="2212688"/>
            <a:ext cx="2849061" cy="15698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lang="en-US" altLang="zh-CN" sz="1800" b="1" dirty="0">
                <a:solidFill>
                  <a:srgbClr val="1F6FB8"/>
                </a:solidFill>
                <a:latin typeface="Microsoft YaHei"/>
              </a:rPr>
              <a:t>Implementation</a:t>
            </a:r>
            <a:endParaRPr sz="1800" b="1" dirty="0">
              <a:solidFill>
                <a:srgbClr val="1F6FB8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7828" y="2707406"/>
            <a:ext cx="2680854" cy="44811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Rust 实现约 6500 LoC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" y="3213615"/>
            <a:ext cx="3955465" cy="9620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1180" y="3306840"/>
            <a:ext cx="3623539" cy="15698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lang="en-US" altLang="zh-CN" sz="1800" b="1" dirty="0">
                <a:solidFill>
                  <a:srgbClr val="1F6FB8"/>
                </a:solidFill>
                <a:latin typeface="Microsoft YaHei"/>
              </a:rPr>
              <a:t>benchmark</a:t>
            </a:r>
            <a:endParaRPr sz="1800" b="1" dirty="0">
              <a:solidFill>
                <a:srgbClr val="1F6FB8"/>
              </a:solidFill>
              <a:latin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1921" y="3738404"/>
            <a:ext cx="3568216" cy="44811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17202A"/>
                </a:solidFill>
                <a:latin typeface="Microsoft YaHei"/>
              </a:rPr>
              <a:t>benchmark：243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个应用线路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57784" y="4388714"/>
            <a:ext cx="3900600" cy="850221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0382" y="4481799"/>
            <a:ext cx="1859448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lang="en-US" b="1" dirty="0" err="1">
                <a:solidFill>
                  <a:srgbClr val="1F6FB8"/>
                </a:solidFill>
                <a:latin typeface="Microsoft YaHei"/>
              </a:rPr>
              <a:t>设置</a:t>
            </a:r>
            <a:endParaRPr sz="1800" b="1" dirty="0">
              <a:solidFill>
                <a:srgbClr val="1F6FB8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1716" y="4838416"/>
            <a:ext cx="3380806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timeout：1 小时，16 cores</a:t>
            </a:r>
          </a:p>
        </p:txBody>
      </p:sp>
      <p:pic>
        <p:nvPicPr>
          <p:cNvPr id="23" name="Picture 22" descr="molavi_cas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624" y="1783080"/>
            <a:ext cx="4606256" cy="1842502"/>
          </a:xfrm>
          <a:prstGeom prst="rect">
            <a:avLst/>
          </a:prstGeom>
        </p:spPr>
      </p:pic>
      <p:pic>
        <p:nvPicPr>
          <p:cNvPr id="26" name="Picture 25" descr="molavi_nisqmr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043" y="3758656"/>
            <a:ext cx="5972507" cy="23769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Table 1, p.3；Sec. 7, p.21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QMR compiler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生成编译器整体接近专用工具，部分场景更强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 dirty="0">
                <a:solidFill>
                  <a:srgbClr val="0B2F5B"/>
                </a:solidFill>
                <a:latin typeface="Microsoft YaHei"/>
              </a:rPr>
              <a:t>Amaro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在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NISQ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上接近成熟工具，在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SCMR、RAA、ILQ、TIQMR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等场景中经常优于对应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baseline，显示通用框架没有明显牺牲质量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Molavi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1F6FB8"/>
                </a:solidFill>
                <a:latin typeface="Microsoft YaHei"/>
              </a:rPr>
              <a:t>14 / 60</a:t>
            </a:r>
          </a:p>
        </p:txBody>
      </p:sp>
      <p:pic>
        <p:nvPicPr>
          <p:cNvPr id="17" name="Picture 16" descr="molavi_ablation.png"/>
          <p:cNvPicPr>
            <a:picLocks noChangeAspect="1"/>
          </p:cNvPicPr>
          <p:nvPr/>
        </p:nvPicPr>
        <p:blipFill>
          <a:blip r:embed="rId2"/>
          <a:srcRect l="18288" r="16378"/>
          <a:stretch>
            <a:fillRect/>
          </a:stretch>
        </p:blipFill>
        <p:spPr>
          <a:xfrm>
            <a:off x="7444162" y="1728216"/>
            <a:ext cx="4430244" cy="261285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58321" y="4576176"/>
            <a:ext cx="2496312" cy="10957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049" y="4730491"/>
            <a:ext cx="2276856" cy="57396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17202A"/>
                </a:solidFill>
                <a:latin typeface="Microsoft YaHei"/>
              </a:rPr>
              <a:t>NISQ：约 48% benchmark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持平或优于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Qiskit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400937" y="4576176"/>
            <a:ext cx="2496312" cy="1095738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10665" y="4730491"/>
            <a:ext cx="2276856" cy="57396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17202A"/>
                </a:solidFill>
                <a:latin typeface="Microsoft YaHei"/>
              </a:rPr>
              <a:t>QSynth2：Amaro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额外解出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161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个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timeout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案例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43553" y="4576176"/>
            <a:ext cx="2496312" cy="10957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53281" y="4730491"/>
            <a:ext cx="2276856" cy="57396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SCMR：Amaro 优于 DASCOT 的案例为 139/243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169" y="4576176"/>
            <a:ext cx="2496312" cy="1095738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95896" y="4730491"/>
            <a:ext cx="2276856" cy="57396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RAA：多数终止案例成功概率更好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Fig. 9-15, pp.22-25；Fig. 16, pp.25-26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C6458AFD-4C4F-61A2-141F-569A811DE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973784"/>
            <a:ext cx="7063162" cy="24587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420624"/>
            <a:ext cx="16459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POPL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32688"/>
            <a:ext cx="1554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EAF7FF"/>
                </a:solidFill>
                <a:latin typeface="Microsoft YaHei"/>
              </a:rPr>
              <a:t>paper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48640"/>
            <a:ext cx="8046720" cy="11155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500" b="1">
                <a:solidFill>
                  <a:srgbClr val="17202A"/>
                </a:solidFill>
                <a:latin typeface="Microsoft YaHei"/>
              </a:rPr>
              <a:t>Flexible Type-Based Resource Estimation in Quantum Circuit Description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7071" y="1414404"/>
            <a:ext cx="7552313" cy="87658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lnSpc>
                <a:spcPct val="103000"/>
              </a:lnSpc>
            </a:pPr>
            <a:r>
              <a:rPr sz="1800" b="1" dirty="0" err="1">
                <a:solidFill>
                  <a:srgbClr val="00878F"/>
                </a:solidFill>
                <a:latin typeface="Microsoft YaHei"/>
              </a:rPr>
              <a:t>Colledan</a:t>
            </a:r>
            <a:r>
              <a:rPr sz="1800" b="1" dirty="0">
                <a:solidFill>
                  <a:srgbClr val="00878F"/>
                </a:solidFill>
                <a:latin typeface="Microsoft YaHei"/>
              </a:rPr>
              <a:t> &amp; Dal Lago,</a:t>
            </a:r>
            <a:r>
              <a:rPr lang="en-US" b="1" dirty="0">
                <a:solidFill>
                  <a:srgbClr val="00878F"/>
                </a:solidFill>
                <a:latin typeface="Microsoft YaHei"/>
              </a:rPr>
              <a:t> </a:t>
            </a:r>
          </a:p>
          <a:p>
            <a:pPr>
              <a:lnSpc>
                <a:spcPct val="103000"/>
              </a:lnSpc>
            </a:pPr>
            <a:r>
              <a:rPr lang="en-US" b="1" dirty="0">
                <a:solidFill>
                  <a:srgbClr val="00878F"/>
                </a:solidFill>
                <a:latin typeface="Microsoft YaHei"/>
              </a:rPr>
              <a:t>University of Bologna, Italy and INRIA Sophia Antipolis, France</a:t>
            </a:r>
          </a:p>
          <a:p>
            <a:pPr>
              <a:lnSpc>
                <a:spcPct val="103000"/>
              </a:lnSpc>
            </a:pPr>
            <a:r>
              <a:rPr sz="1800" b="1" dirty="0">
                <a:solidFill>
                  <a:srgbClr val="00878F"/>
                </a:solidFill>
                <a:latin typeface="Microsoft YaHei"/>
              </a:rPr>
              <a:t> POPL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2928" y="2286000"/>
            <a:ext cx="766267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52928" y="2401876"/>
            <a:ext cx="768096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000" b="1" dirty="0" err="1">
                <a:solidFill>
                  <a:srgbClr val="0B2F5B"/>
                </a:solidFill>
                <a:latin typeface="Microsoft YaHei"/>
              </a:rPr>
              <a:t>论文提出</a:t>
            </a:r>
            <a:r>
              <a:rPr sz="2000" b="1" dirty="0">
                <a:solidFill>
                  <a:srgbClr val="0B2F5B"/>
                </a:solidFill>
                <a:latin typeface="Microsoft YaHei"/>
              </a:rPr>
              <a:t> </a:t>
            </a:r>
            <a:r>
              <a:rPr sz="2000" b="1" dirty="0" err="1">
                <a:solidFill>
                  <a:srgbClr val="0B2F5B"/>
                </a:solidFill>
                <a:latin typeface="Microsoft YaHei"/>
              </a:rPr>
              <a:t>Proto-Quipper-RA，用一套参数化类型系统为</a:t>
            </a:r>
            <a:r>
              <a:rPr sz="2000" b="1" dirty="0">
                <a:solidFill>
                  <a:srgbClr val="0B2F5B"/>
                </a:solidFill>
                <a:latin typeface="Microsoft YaHei"/>
              </a:rPr>
              <a:t> </a:t>
            </a:r>
            <a:r>
              <a:rPr sz="2000" b="1" dirty="0" err="1">
                <a:solidFill>
                  <a:srgbClr val="0B2F5B"/>
                </a:solidFill>
                <a:latin typeface="Microsoft YaHei"/>
              </a:rPr>
              <a:t>Quipper</a:t>
            </a:r>
            <a:r>
              <a:rPr sz="2000" b="1" dirty="0">
                <a:solidFill>
                  <a:srgbClr val="0B2F5B"/>
                </a:solidFill>
                <a:latin typeface="Microsoft YaHei"/>
              </a:rPr>
              <a:t> </a:t>
            </a:r>
            <a:r>
              <a:rPr sz="2000" b="1" dirty="0" err="1">
                <a:solidFill>
                  <a:srgbClr val="0B2F5B"/>
                </a:solidFill>
                <a:latin typeface="Microsoft YaHei"/>
              </a:rPr>
              <a:t>式程序生成的电路族推导资源上界</a:t>
            </a:r>
            <a:r>
              <a:rPr sz="2000" b="1" dirty="0">
                <a:solidFill>
                  <a:srgbClr val="0B2F5B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3187876"/>
            <a:ext cx="448056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800">
                <a:solidFill>
                  <a:srgbClr val="17202A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对象：Quipper</a:t>
            </a:r>
            <a:r>
              <a:rPr dirty="0"/>
              <a:t> </a:t>
            </a:r>
            <a:r>
              <a:rPr dirty="0" err="1"/>
              <a:t>式电路描述语言</a:t>
            </a:r>
            <a:endParaRPr dirty="0"/>
          </a:p>
          <a:p>
            <a:pPr>
              <a:lnSpc>
                <a:spcPct val="103000"/>
              </a:lnSpc>
              <a:spcAft>
                <a:spcPts val="500"/>
              </a:spcAft>
              <a:defRPr sz="1800">
                <a:solidFill>
                  <a:srgbClr val="17202A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目标：静态推出电路族上界</a:t>
            </a:r>
            <a:endParaRPr dirty="0"/>
          </a:p>
          <a:p>
            <a:pPr>
              <a:lnSpc>
                <a:spcPct val="103000"/>
              </a:lnSpc>
              <a:spcAft>
                <a:spcPts val="500"/>
              </a:spcAft>
              <a:defRPr sz="1800">
                <a:solidFill>
                  <a:srgbClr val="17202A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核心：effects</a:t>
            </a:r>
            <a:r>
              <a:rPr dirty="0"/>
              <a:t> + refinement types</a:t>
            </a:r>
          </a:p>
        </p:txBody>
      </p:sp>
      <p:pic>
        <p:nvPicPr>
          <p:cNvPr id="11" name="Picture 10" descr="colledan_variable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368" y="4468036"/>
            <a:ext cx="8578239" cy="22471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327648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16 / 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Type-based resource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 dirty="0" err="1">
                <a:solidFill>
                  <a:srgbClr val="17202A"/>
                </a:solidFill>
                <a:latin typeface="Microsoft YaHei"/>
              </a:rPr>
              <a:t>量子资源估计必须跟着硬件成本模型变化</a:t>
            </a:r>
            <a:endParaRPr sz="27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量子硬件稀缺且异质，电路描述程序生成的是随输入规模变化的电路族，因此资源估计需要静态、参数化、可替换 metric。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Colledan &amp; Dal Lago,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17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40290" y="4700016"/>
            <a:ext cx="9725118" cy="1005840"/>
          </a:xfrm>
          <a:prstGeom prst="roundRect">
            <a:avLst/>
          </a:prstGeom>
          <a:solidFill>
            <a:srgbClr val="00878F"/>
          </a:solidFill>
          <a:ln w="12700">
            <a:solidFill>
              <a:srgbClr val="008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87623" y="4928403"/>
            <a:ext cx="8141313" cy="96968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3000"/>
              </a:lnSpc>
            </a:pPr>
            <a:r>
              <a:rPr sz="2000" b="1" dirty="0" err="1">
                <a:solidFill>
                  <a:srgbClr val="FFFFFF"/>
                </a:solidFill>
                <a:latin typeface="Microsoft YaHei"/>
              </a:rPr>
              <a:t>量子硬件稀缺且异质，电路描述程序生成的是随输入规模变化的电路族，因此资源</a:t>
            </a:r>
            <a:r>
              <a:rPr lang="zh-CN" altLang="en-US" sz="2000" b="1" dirty="0">
                <a:solidFill>
                  <a:srgbClr val="FFFFFF"/>
                </a:solidFill>
                <a:latin typeface="Microsoft YaHei"/>
              </a:rPr>
              <a:t>量子资源估计必须跟着硬件成本模型变化</a:t>
            </a:r>
          </a:p>
          <a:p>
            <a:pPr algn="ctr">
              <a:lnSpc>
                <a:spcPct val="103000"/>
              </a:lnSpc>
            </a:pPr>
            <a:endParaRPr sz="20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677214" y="2315323"/>
            <a:ext cx="4069842" cy="71323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91513" y="2433947"/>
            <a:ext cx="352044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00878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3557" y="2388475"/>
            <a:ext cx="3340915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17202A"/>
                </a:solidFill>
                <a:latin typeface="Microsoft YaHei"/>
              </a:rPr>
              <a:t>qubit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和量子操作都很稀缺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13221" y="2313431"/>
            <a:ext cx="406984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4354" y="2386583"/>
            <a:ext cx="352044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00878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9564" y="2386583"/>
            <a:ext cx="3340915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高级语言描述的是电路族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77214" y="3419855"/>
            <a:ext cx="4069842" cy="71323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86942" y="3493007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16126" y="3493007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不同硬件关心不同代价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3220" y="3456432"/>
            <a:ext cx="4069841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2948" y="3529584"/>
            <a:ext cx="425207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2133" y="3529584"/>
            <a:ext cx="3340914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上界需要参数化、静态化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Type-based resource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论文把电路大小拆成全局与局部两类指标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 dirty="0">
                <a:solidFill>
                  <a:srgbClr val="0B2F5B"/>
                </a:solidFill>
                <a:latin typeface="Microsoft YaHei"/>
              </a:rPr>
              <a:t>width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和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gate count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可以看作整个电路的全局自然数，depth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则先依附于每根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wire，再聚合成整体指标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Colledan &amp; Dal Lago,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18 / 60</a:t>
            </a:r>
          </a:p>
        </p:txBody>
      </p:sp>
      <p:pic>
        <p:nvPicPr>
          <p:cNvPr id="11" name="Picture 10" descr="colledan_teleport_circuit.png"/>
          <p:cNvPicPr>
            <a:picLocks noChangeAspect="1"/>
          </p:cNvPicPr>
          <p:nvPr/>
        </p:nvPicPr>
        <p:blipFill>
          <a:blip r:embed="rId2"/>
          <a:srcRect l="13615" r="11415"/>
          <a:stretch>
            <a:fillRect/>
          </a:stretch>
        </p:blipFill>
        <p:spPr>
          <a:xfrm>
            <a:off x="1222541" y="1981861"/>
            <a:ext cx="5502796" cy="1963669"/>
          </a:xfrm>
          <a:prstGeom prst="rect">
            <a:avLst/>
          </a:prstGeom>
        </p:spPr>
      </p:pic>
      <p:pic>
        <p:nvPicPr>
          <p:cNvPr id="14" name="Picture 13" descr="colledan_quipper_n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11" y="3888385"/>
            <a:ext cx="7426112" cy="19453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36010" y="2519066"/>
            <a:ext cx="35478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1458" y="2592218"/>
            <a:ext cx="32186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width：活跃 wire 峰值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6010" y="3085994"/>
            <a:ext cx="3547872" cy="4114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1458" y="3159146"/>
            <a:ext cx="32186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gate count：门的总数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6010" y="3652922"/>
            <a:ext cx="35478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1458" y="3726074"/>
            <a:ext cx="32186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depth：最长 wire 路径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前人工作能说明方向，但无法覆盖多指标资源估计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62196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 dirty="0" err="1">
                <a:solidFill>
                  <a:srgbClr val="0B2F5B"/>
                </a:solidFill>
                <a:latin typeface="Microsoft YaHei"/>
              </a:rPr>
              <a:t>现有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Proto-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Quipper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形式化、具体电路资源估计和经典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refinement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资源分析都提供基础，但都没有同时解决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Quipper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程序级、多</a:t>
            </a:r>
            <a:r>
              <a:rPr lang="en-US" sz="1900" b="1" dirty="0" err="1">
                <a:solidFill>
                  <a:srgbClr val="0B2F5B"/>
                </a:solidFill>
                <a:latin typeface="Microsoft YaHei"/>
              </a:rPr>
              <a:t>指标</a:t>
            </a:r>
            <a:endParaRPr sz="1900" b="1" dirty="0">
              <a:solidFill>
                <a:srgbClr val="0B2F5B"/>
              </a:solidFill>
              <a:latin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Colledan &amp; Dal Lago,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19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1999" y="2065025"/>
            <a:ext cx="2232756" cy="1082029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5867" y="2365023"/>
            <a:ext cx="2014165" cy="65608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17202A"/>
                </a:solidFill>
                <a:latin typeface="Microsoft YaHei"/>
              </a:rPr>
              <a:t>Proto-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Quipper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给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Quipper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语义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45966" y="2065025"/>
            <a:ext cx="2232756" cy="10820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59834" y="2365023"/>
            <a:ext cx="2014165" cy="65608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17202A"/>
                </a:solidFill>
                <a:latin typeface="Microsoft YaHei"/>
              </a:rPr>
              <a:t>Proto-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Quipper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-R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只覆盖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width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03800" y="2065025"/>
            <a:ext cx="2346505" cy="1082029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68393" y="2300963"/>
            <a:ext cx="2232756" cy="22984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7202A"/>
                </a:solidFill>
                <a:latin typeface="Microsoft YaHei"/>
              </a:rPr>
              <a:t>量子资源分析多针对单个电路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7CE3093D-C9B2-A2B4-74AA-88E5F09E1EFD}"/>
              </a:ext>
            </a:extLst>
          </p:cNvPr>
          <p:cNvSpPr txBox="1"/>
          <p:nvPr/>
        </p:nvSpPr>
        <p:spPr>
          <a:xfrm>
            <a:off x="502920" y="339075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真正的挑战是组合语义随指标变化</a:t>
            </a: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19EC9FFE-FAA8-DD02-772A-266371C27E55}"/>
              </a:ext>
            </a:extLst>
          </p:cNvPr>
          <p:cNvSpPr/>
          <p:nvPr/>
        </p:nvSpPr>
        <p:spPr>
          <a:xfrm>
            <a:off x="502920" y="4049122"/>
            <a:ext cx="54864" cy="41148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22C13820-FC98-78AA-4143-C455F3493EA4}"/>
              </a:ext>
            </a:extLst>
          </p:cNvPr>
          <p:cNvSpPr txBox="1"/>
          <p:nvPr/>
        </p:nvSpPr>
        <p:spPr>
          <a:xfrm>
            <a:off x="658368" y="403083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同一个程序组合在 width、gate count 和 depth 下遵循不同代数规律，尤其 depth 不能只靠全局 effect 精确表达。</a:t>
            </a:r>
          </a:p>
        </p:txBody>
      </p:sp>
      <p:sp>
        <p:nvSpPr>
          <p:cNvPr id="28" name="Rounded Rectangle 9">
            <a:extLst>
              <a:ext uri="{FF2B5EF4-FFF2-40B4-BE49-F238E27FC236}">
                <a16:creationId xmlns:a16="http://schemas.microsoft.com/office/drawing/2014/main" id="{BD245467-3899-6DC1-C616-A8610DD8E595}"/>
              </a:ext>
            </a:extLst>
          </p:cNvPr>
          <p:cNvSpPr/>
          <p:nvPr/>
        </p:nvSpPr>
        <p:spPr>
          <a:xfrm>
            <a:off x="658368" y="4996385"/>
            <a:ext cx="2519172" cy="99612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E6385830-12FE-97D1-E351-8204B7A53EB2}"/>
              </a:ext>
            </a:extLst>
          </p:cNvPr>
          <p:cNvSpPr txBox="1"/>
          <p:nvPr/>
        </p:nvSpPr>
        <p:spPr>
          <a:xfrm>
            <a:off x="768096" y="5215269"/>
            <a:ext cx="2299715" cy="52177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iter dumbNot：width 取 max</a:t>
            </a:r>
          </a:p>
        </p:txBody>
      </p:sp>
      <p:sp>
        <p:nvSpPr>
          <p:cNvPr id="30" name="Rounded Rectangle 11">
            <a:extLst>
              <a:ext uri="{FF2B5EF4-FFF2-40B4-BE49-F238E27FC236}">
                <a16:creationId xmlns:a16="http://schemas.microsoft.com/office/drawing/2014/main" id="{B051A58A-81B6-113F-1FE3-E3F2F733D2EA}"/>
              </a:ext>
            </a:extLst>
          </p:cNvPr>
          <p:cNvSpPr/>
          <p:nvPr/>
        </p:nvSpPr>
        <p:spPr>
          <a:xfrm>
            <a:off x="3323844" y="4996385"/>
            <a:ext cx="2519172" cy="996123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39FBFFFB-93AA-7303-F5E1-3CA7C68E77FB}"/>
              </a:ext>
            </a:extLst>
          </p:cNvPr>
          <p:cNvSpPr txBox="1"/>
          <p:nvPr/>
        </p:nvSpPr>
        <p:spPr>
          <a:xfrm>
            <a:off x="3433572" y="5215269"/>
            <a:ext cx="2299715" cy="52177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门数和深度随 n 相加</a:t>
            </a:r>
          </a:p>
        </p:txBody>
      </p:sp>
      <p:sp>
        <p:nvSpPr>
          <p:cNvPr id="32" name="Rounded Rectangle 13">
            <a:extLst>
              <a:ext uri="{FF2B5EF4-FFF2-40B4-BE49-F238E27FC236}">
                <a16:creationId xmlns:a16="http://schemas.microsoft.com/office/drawing/2014/main" id="{0F8D082E-6B54-1282-7A4E-F40E0BD62C8B}"/>
              </a:ext>
            </a:extLst>
          </p:cNvPr>
          <p:cNvSpPr/>
          <p:nvPr/>
        </p:nvSpPr>
        <p:spPr>
          <a:xfrm>
            <a:off x="5989320" y="4996385"/>
            <a:ext cx="2519172" cy="99612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02C1A87D-C2FB-EE0D-836B-9022026BD323}"/>
              </a:ext>
            </a:extLst>
          </p:cNvPr>
          <p:cNvSpPr txBox="1"/>
          <p:nvPr/>
        </p:nvSpPr>
        <p:spPr>
          <a:xfrm>
            <a:off x="6099048" y="5215269"/>
            <a:ext cx="2299715" cy="52177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mapHadamard 的真实 depth 为 1</a:t>
            </a:r>
          </a:p>
        </p:txBody>
      </p:sp>
      <p:sp>
        <p:nvSpPr>
          <p:cNvPr id="34" name="Rounded Rectangle 15">
            <a:extLst>
              <a:ext uri="{FF2B5EF4-FFF2-40B4-BE49-F238E27FC236}">
                <a16:creationId xmlns:a16="http://schemas.microsoft.com/office/drawing/2014/main" id="{9DF4375E-8829-21D0-36F1-A41E9CE0855B}"/>
              </a:ext>
            </a:extLst>
          </p:cNvPr>
          <p:cNvSpPr/>
          <p:nvPr/>
        </p:nvSpPr>
        <p:spPr>
          <a:xfrm>
            <a:off x="8654796" y="4996385"/>
            <a:ext cx="2519172" cy="996123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E6DBC4E4-7385-AC1A-5F70-3C9763989836}"/>
              </a:ext>
            </a:extLst>
          </p:cNvPr>
          <p:cNvSpPr txBox="1"/>
          <p:nvPr/>
        </p:nvSpPr>
        <p:spPr>
          <a:xfrm>
            <a:off x="8764524" y="5215269"/>
            <a:ext cx="2299715" cy="52177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高阶闭包会隐藏 wire 成本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Type-based resource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论文让同一套类型规则服务多种 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Colledan &amp; Dal Lago,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21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6472" y="2752344"/>
            <a:ext cx="4480560" cy="1005840"/>
          </a:xfrm>
          <a:prstGeom prst="roundRect">
            <a:avLst/>
          </a:prstGeom>
          <a:solidFill>
            <a:srgbClr val="00878F"/>
          </a:solidFill>
          <a:ln w="12700">
            <a:solidFill>
              <a:srgbClr val="008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3000"/>
              </a:lnSpc>
            </a:pPr>
            <a:r>
              <a:rPr lang="en-US" altLang="zh-CN" b="1" dirty="0">
                <a:solidFill>
                  <a:schemeClr val="bg1"/>
                </a:solidFill>
                <a:latin typeface="+mn-ea"/>
              </a:rPr>
              <a:t>Proto-</a:t>
            </a:r>
            <a:r>
              <a:rPr lang="en-US" altLang="zh-CN" b="1" dirty="0" err="1">
                <a:solidFill>
                  <a:schemeClr val="bg1"/>
                </a:solidFill>
                <a:latin typeface="+mn-ea"/>
              </a:rPr>
              <a:t>Quipper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-RA 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将资源算子留作抽象索引，再由 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CMI/RMI 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解释，使换 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metric 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主要变成换解释而不是重写类型系统。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965960"/>
            <a:ext cx="3063240" cy="71323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39112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039112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一个语法框架：Proto-Quipper-RA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965960"/>
            <a:ext cx="3063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14232" y="2039112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多个解释实例：CMI/RMI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767328"/>
            <a:ext cx="3063240" cy="71323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840480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3840480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推导结果是参数化上界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767328"/>
            <a:ext cx="3063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14232" y="3840480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QuRA 自动执行推断与检查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§1, p.2-3; §7, p.24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Type-based resource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整体架构是两层解释加一层类型推导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底层 CMI 解释门级电路资源，上层 RMI 解释程序组合资源，Proto-Quipper-RA 类型系统把两者连接到程序。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Colledan &amp; Dal Lago,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22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64" y="2300066"/>
            <a:ext cx="9966960" cy="402336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32" y="2373218"/>
            <a:ext cx="94183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CRL：具体门级电路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703" y="2866994"/>
            <a:ext cx="95554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2872" y="2940146"/>
            <a:ext cx="90068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CMI：解释 size/append/out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1744" y="3433922"/>
            <a:ext cx="9144000" cy="402336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2912" y="3507074"/>
            <a:ext cx="85953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RMI：解释 e、wire、seq、par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01783" y="4000850"/>
            <a:ext cx="87325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02951" y="4074002"/>
            <a:ext cx="81838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类型推导连接程序与上界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21823" y="4567778"/>
            <a:ext cx="8321040" cy="40233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2992" y="4640930"/>
            <a:ext cx="7772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QuRA 把约束交给 SMT</a:t>
            </a:r>
          </a:p>
        </p:txBody>
      </p:sp>
      <p:pic>
        <p:nvPicPr>
          <p:cNvPr id="21" name="Picture 20" descr="colledan_proto_quipper_synt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281078"/>
            <a:ext cx="6618189" cy="26543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§4, p.8-13; §5, p.13-19; §7, p.24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Type-based resource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CMI 把门级资源变化抽象成三个算子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RACS 判断用输入/输出 label context 承载局部资源，用全局索引承载电路大小，CMI 负责解释电路构造算子。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Colledan &amp; Dal Lago,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23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66544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66544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size_W：identity 电路资源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60320"/>
            <a:ext cx="3749039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633472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33472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append_g：追加门后的全局资源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27248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200400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00400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out_g,n：输出 wire 的局部资源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874519"/>
            <a:ext cx="65836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olledan_racs_bun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841" y="1648887"/>
            <a:ext cx="6751320" cy="286528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578217" y="4636008"/>
            <a:ext cx="3154680" cy="621792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1097" y="4773168"/>
            <a:ext cx="2788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RACS 同时记录 Q、L、I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§4.3-§4.5, p.9-13; Fig. 6-7; Examples 4.4-4.6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Type-based resource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effect 管全局资源，wire refinement 管局部资源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Proto-Quipper-RA 的计算判断同时携带程序规模参数、当前 wire 的局部资源变量、普通上下文和全局 effect 上界。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Colledan &amp; Dal Lago,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24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66544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66544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Θ 表示程序规模参数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60320"/>
            <a:ext cx="3749039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633472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33472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Ξ 表示局部 metric 输入变量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27248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200400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00400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effect I 给全局上界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874519"/>
            <a:ext cx="65836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olledan_typing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9" y="1673352"/>
            <a:ext cx="7316777" cy="96205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Type-based resource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apply、box、let、fold 是资源推导的关键关口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 dirty="0" err="1">
                <a:solidFill>
                  <a:srgbClr val="0B2F5B"/>
                </a:solidFill>
                <a:latin typeface="Microsoft YaHei"/>
              </a:rPr>
              <a:t>电路描述语言的关键构造会在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effect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和类型中重新组合资源，上界必须同时考虑生成的电路和旁路流过的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wire。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Colledan &amp; Dal Lago,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25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01952"/>
            <a:ext cx="4828032" cy="2893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68085" y="2309464"/>
            <a:ext cx="42953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59525" y="2382616"/>
            <a:ext cx="206695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6997" y="2382616"/>
            <a:ext cx="3940123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apply：使用 boxed circuit 信息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8085" y="2876392"/>
            <a:ext cx="4295380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59525" y="2949544"/>
            <a:ext cx="206695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997" y="2949544"/>
            <a:ext cx="3940123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box：把 effect 变回电路数据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68085" y="3443320"/>
            <a:ext cx="42953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59525" y="3516472"/>
            <a:ext cx="206695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997" y="3516472"/>
            <a:ext cx="3940123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let：未用 wire 旁路流过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68085" y="4010248"/>
            <a:ext cx="4295380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59525" y="4083399"/>
            <a:ext cx="206695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6997" y="4083399"/>
            <a:ext cx="3940123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fold：按迭代索引累积资源</a:t>
            </a:r>
          </a:p>
        </p:txBody>
      </p:sp>
      <p:pic>
        <p:nvPicPr>
          <p:cNvPr id="26" name="Picture 25" descr="colledan_seman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76" y="2369002"/>
            <a:ext cx="4565415" cy="16674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Type-based resource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RMI 决定语言层顺序与并行组合怎样计费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 dirty="0">
                <a:solidFill>
                  <a:srgbClr val="0B2F5B"/>
                </a:solidFill>
                <a:latin typeface="Microsoft YaHei"/>
              </a:rPr>
              <a:t>RMI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将抽象的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e、wire、seq、par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 </a:t>
            </a:r>
            <a:r>
              <a:rPr sz="1900" b="1" dirty="0" err="1">
                <a:solidFill>
                  <a:srgbClr val="0B2F5B"/>
                </a:solidFill>
                <a:latin typeface="Microsoft YaHei"/>
              </a:rPr>
              <a:t>解释成具体代数结构，使同一类型推导能适配门数、宽度等不同组合规律</a:t>
            </a:r>
            <a:r>
              <a:rPr sz="1900" b="1" dirty="0">
                <a:solidFill>
                  <a:srgbClr val="0B2F5B"/>
                </a:solidFill>
                <a:latin typeface="Microsoft YaHei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Colledan &amp; Dal Lago,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26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3268979" cy="14401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084832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gate count：wire=0，seq=+，par=+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7660" y="1938528"/>
            <a:ext cx="3268979" cy="1440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02252" y="2084832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252" y="244144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width：wire=1，seq=max，par=+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1588"/>
            <a:ext cx="3268979" cy="14401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707891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06450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well-behaved 保证单调组合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7660" y="3561588"/>
            <a:ext cx="3268979" cy="1440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02252" y="3707891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2252" y="406450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coherence 连接 RMI 与 CMI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1938528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olledan_let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154584"/>
            <a:ext cx="3474720" cy="78403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44967" y="3081528"/>
            <a:ext cx="343814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let_shape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566160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colledan_variable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719108"/>
            <a:ext cx="3474720" cy="91025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44967" y="4709160"/>
            <a:ext cx="343814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variable_input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§5.3, p.18-19; Examples 5.1-5.2; Definition 6.7, p.23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Type-based resource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正确性定理把类型上界连接到实际生成电路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只要 CMI sound 且 RMI coherent，任何可导出的 Proto-Quipper-RA 计算判断都不会低估程序实际生成电路的全局或局部资源。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Colledan &amp; Dal Lago,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27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47088"/>
            <a:ext cx="9966960" cy="402336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94183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CMI sound：不低估真实 metric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1" y="2414016"/>
            <a:ext cx="95554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90068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RMI coherent：不低估组合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53312" y="2980944"/>
            <a:ext cx="9144000" cy="402336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3054096"/>
            <a:ext cx="85953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逻辑关系解释类型和 effect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73351" y="3547872"/>
            <a:ext cx="87325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3621024"/>
            <a:ext cx="81838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Total Correctness 覆盖全局与局部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93391" y="4114800"/>
            <a:ext cx="8321040" cy="40233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94560" y="4187952"/>
            <a:ext cx="7772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41080" y="37947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olledan_seman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651" y="3486633"/>
            <a:ext cx="7245170" cy="264622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50807" y="4937760"/>
            <a:ext cx="238658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§6.1-§6.3, p.20-24; Definitions 6.1-6.7; Theorem 6.10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Type-based resource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QuRA 实现把 metric 变成可插拔模块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QuRA 的推断核心生成抽象资源表达式，具体 metric 通过小型 Haskell 模块解释，SMT 负责检查约束。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Colledan &amp; Dal Lago,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28 / 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965960"/>
            <a:ext cx="3063240" cy="71323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39112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039112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Haskell 实现，SMT 辅助检查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76472" y="2322576"/>
            <a:ext cx="64008" cy="402335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75320" y="1965960"/>
            <a:ext cx="3063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2039112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2039112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推断阶段生成抽象表达式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322576"/>
            <a:ext cx="45719" cy="402335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3232" y="3767328"/>
            <a:ext cx="3063240" cy="71323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840480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3840480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metric 模块解释抽象算子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6472" y="2724912"/>
            <a:ext cx="64008" cy="1399031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75320" y="3767328"/>
            <a:ext cx="3063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85048" y="3840480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4232" y="3840480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 err="1">
                <a:solidFill>
                  <a:srgbClr val="17202A"/>
                </a:solidFill>
                <a:latin typeface="Microsoft YaHei"/>
              </a:rPr>
              <a:t>模块平均约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40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行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Haskell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2724912"/>
            <a:ext cx="45719" cy="1399031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069080" y="3730752"/>
            <a:ext cx="3977639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olledan_qft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3" y="2208924"/>
            <a:ext cx="4555444" cy="318995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§7, p.24; §7.1, p.25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Type-based resource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QFT 与 Grover 展示自动且精确的参数化上界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在 QFT 和 Grover 两个案例上，QuRA 自动推出与手工推导一致的参数化资源公式，包括全局门数和局部深度。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Colledan &amp; Dal Lago,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29 / 60</a:t>
            </a:r>
          </a:p>
        </p:txBody>
      </p:sp>
      <p:pic>
        <p:nvPicPr>
          <p:cNvPr id="11" name="Picture 10" descr="colledan_grover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511" y="1987846"/>
            <a:ext cx="3435682" cy="384242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68441" y="2345436"/>
            <a:ext cx="249631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8169" y="2418588"/>
            <a:ext cx="227685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QFT width：n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8441" y="2848356"/>
            <a:ext cx="4343918" cy="384048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8168" y="2921508"/>
            <a:ext cx="3962035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17202A"/>
                </a:solidFill>
                <a:latin typeface="Microsoft YaHei"/>
              </a:rPr>
              <a:t>QFT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depth：第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i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个输出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d+n+i</a:t>
            </a:r>
            <a:endParaRPr sz="1800" b="1" dirty="0">
              <a:solidFill>
                <a:srgbClr val="17202A"/>
              </a:solidFill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92105" y="3369420"/>
            <a:ext cx="4122449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01834" y="3442572"/>
            <a:ext cx="3760036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 dirty="0">
                <a:solidFill>
                  <a:srgbClr val="17202A"/>
                </a:solidFill>
                <a:latin typeface="Microsoft YaHei"/>
              </a:rPr>
              <a:t>QFT gate </a:t>
            </a:r>
            <a:r>
              <a:rPr sz="1800" b="1" dirty="0" err="1">
                <a:solidFill>
                  <a:srgbClr val="17202A"/>
                </a:solidFill>
                <a:latin typeface="Microsoft YaHei"/>
              </a:rPr>
              <a:t>count：Σ</a:t>
            </a:r>
            <a:r>
              <a:rPr sz="1800" b="1" dirty="0">
                <a:solidFill>
                  <a:srgbClr val="17202A"/>
                </a:solidFill>
                <a:latin typeface="Microsoft YaHei"/>
              </a:rPr>
              <a:t>(iter+1)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92105" y="3909060"/>
            <a:ext cx="5323278" cy="384048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3038" y="3982212"/>
            <a:ext cx="4855297" cy="3059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Grover gate count：2n+1+r(os+4n+1)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Type-based resource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这是一套验证框架，不是万能资源优化器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框架保证程序实际描述电路的资源上界，但不自动寻找优化后电路，也尚未覆盖非自然数 metric 和大规模 benchmark。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Colledan &amp; Dal Lago,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30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5074920" cy="950976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78024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已解决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496312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不估计优化后电路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2331720"/>
            <a:ext cx="5074920" cy="95097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478024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仍受限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496312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当前理论限于自然数 metric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02736"/>
            <a:ext cx="5074920" cy="950976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49040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启发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7672" y="3767328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QuRA 评测程序集仍较小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602736"/>
            <a:ext cx="507492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749040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00878F"/>
                </a:solidFill>
                <a:latin typeface="Microsoft YaHei"/>
              </a:rPr>
              <a:t>追问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3767328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新 metric 仍需构造 CMI/RMI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420624"/>
            <a:ext cx="16459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POPL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32688"/>
            <a:ext cx="1554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EAF7FF"/>
                </a:solidFill>
                <a:latin typeface="Microsoft YaHei"/>
              </a:rPr>
              <a:t>paper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48640"/>
            <a:ext cx="8046720" cy="11155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500" b="1">
                <a:solidFill>
                  <a:srgbClr val="17202A"/>
                </a:solidFill>
                <a:latin typeface="Microsoft YaHei"/>
              </a:rPr>
              <a:t>Parameterized Verification of Quantum Circuits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2928" y="1874519"/>
            <a:ext cx="58521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2928" y="2286000"/>
            <a:ext cx="766267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52928" y="2606040"/>
            <a:ext cx="768096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000" b="1">
                <a:solidFill>
                  <a:srgbClr val="0B2F5B"/>
                </a:solidFill>
                <a:latin typeface="Microsoft YaHei"/>
              </a:rPr>
              <a:t>本文把参数化量子程序的输入输出正确性和等价性统一为自动化的 automata/transducer 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749039"/>
            <a:ext cx="448056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800">
                <a:solidFill>
                  <a:srgbClr val="17202A"/>
                </a:solidFill>
                <a:latin typeface="Microsoft YaHei"/>
              </a:defRPr>
            </a:pPr>
            <a:r>
              <a:t>• POPL 2026 / PACMPL Article 70</a:t>
            </a:r>
          </a:p>
          <a:p>
            <a:pPr>
              <a:lnSpc>
                <a:spcPct val="103000"/>
              </a:lnSpc>
              <a:spcAft>
                <a:spcPts val="500"/>
              </a:spcAft>
              <a:defRPr sz="1800">
                <a:solidFill>
                  <a:srgbClr val="17202A"/>
                </a:solidFill>
                <a:latin typeface="Microsoft YaHei"/>
              </a:defRPr>
            </a:pPr>
            <a:r>
              <a:t>• Abdulla, Chen, Hecko, Holik, Lengal, Lin, Thinn…</a:t>
            </a:r>
          </a:p>
          <a:p>
            <a:pPr>
              <a:lnSpc>
                <a:spcPct val="103000"/>
              </a:lnSpc>
              <a:spcAft>
                <a:spcPts val="500"/>
              </a:spcAft>
              <a:defRPr sz="1800">
                <a:solidFill>
                  <a:srgbClr val="17202A"/>
                </a:solidFill>
                <a:latin typeface="Microsoft YaHei"/>
              </a:defRPr>
            </a:pPr>
            <a:r>
              <a:t>• 参数化量子电路的关系性质验证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47472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bdulla_swta_uni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224" y="3566160"/>
            <a:ext cx="1627632" cy="16276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44967" y="5212080"/>
            <a:ext cx="343814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paper anchor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27648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31 / 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Parameterized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真正有用的量子算法天然按输入规模生成电路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Shor、Grover、QFT 等算法不是一个固定电路，而是一族随输入规模 n 生成的电路。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32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212848"/>
            <a:ext cx="4480560" cy="10058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0" y="2423160"/>
            <a:ext cx="3931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3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Shor、Grover、QFT 等算法不是一个固定电路，而是一族随输入规模…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965960"/>
            <a:ext cx="3063240" cy="71323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39112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039112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程序输入 n，动态生成对应量子电路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76472" y="2322576"/>
            <a:ext cx="64008" cy="402335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75320" y="1965960"/>
            <a:ext cx="3063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2039112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2039112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每个 n 单独验证不可扩展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322576"/>
            <a:ext cx="45719" cy="402335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3232" y="3767328"/>
            <a:ext cx="3063240" cy="71323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840480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3840480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错误会影响密码、资源和实验解释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6472" y="2724912"/>
            <a:ext cx="64008" cy="1399031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75320" y="3767328"/>
            <a:ext cx="3063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85048" y="3840480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4232" y="3840480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目标是一次证明覆盖所有 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2724912"/>
            <a:ext cx="45719" cy="1399031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p.1-2 Sec.1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Parameterized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本文验证的是参数化电路的关系语义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任务不是只问输出集合是否合理，而是问每个输入态是否被映射到同一索引下的期望输出态。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33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66544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66544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n 量子位态可表示为深度 n 的完美二叉树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60320"/>
            <a:ext cx="3749039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633472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33472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叶子存储 2^n 个基态振幅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27248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200400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00400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关系验证检查 `(p, q)` 配对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874519"/>
            <a:ext cx="65836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abdulla_state_represen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077" y="1965960"/>
            <a:ext cx="1243845" cy="2103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18888" y="4087368"/>
            <a:ext cx="636422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mechanism crop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4526280"/>
            <a:ext cx="3154680" cy="621792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4663440"/>
            <a:ext cx="2788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等价验证检查两个程序在所有基态上相同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p.3-4 Sec.1-2.1; p.11 Sec.4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Parameterized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已有方法覆盖了单实例、手工证明和有限的参数化片段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现有路线各有优势，但缺少同时支持自动化、关系规格和一般参数化电路族的工具。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34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3268979" cy="14401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084832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AutoQ/LSTA 自动化强，但参数化门类有限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7660" y="1938528"/>
            <a:ext cx="3268979" cy="1440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02252" y="2084832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252" y="244144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Qbricks 面向参数化电路，但仍需大量交互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1588"/>
            <a:ext cx="3268979" cy="14401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707891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06450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等价检查器通常只验证两个电路等价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7660" y="3561588"/>
            <a:ext cx="3268979" cy="1440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02252" y="3707891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2252" y="406450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模拟器只覆盖有限输入或单输入态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2011680"/>
            <a:ext cx="3383280" cy="338328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3127248"/>
            <a:ext cx="26517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3000"/>
              </a:lnSpc>
            </a:pPr>
            <a:r>
              <a:rPr sz="2200" b="1">
                <a:solidFill>
                  <a:srgbClr val="0B2F5B"/>
                </a:solidFill>
                <a:latin typeface="Microsoft YaHei"/>
              </a:rPr>
              <a:t>二维地图
不是顺序流程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p.26-27 Sec.7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Parameterized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困难不在单个门，而在同时表达无限输入族、程序族和配对关系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参数化验证需要三个组件同时成立：规格模型、程序语义模型、可判定检查算法。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35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212848"/>
            <a:ext cx="4480560" cy="10058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0" y="2423160"/>
            <a:ext cx="3931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3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参数化验证需要三个组件同时成立：规格模型、程序语义模型、可判定检查算法。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965960"/>
            <a:ext cx="3063240" cy="71323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39112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039112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规格要表达无限多量子态对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76472" y="2322576"/>
            <a:ext cx="64008" cy="402335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75320" y="1965960"/>
            <a:ext cx="3063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2039112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2039112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程序要表达任意规模的电路族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322576"/>
            <a:ext cx="45719" cy="402335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3232" y="3767328"/>
            <a:ext cx="3063240" cy="71323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840480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3840480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振幅可能随 n 改变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6472" y="2724912"/>
            <a:ext cx="64008" cy="1399031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75320" y="3767328"/>
            <a:ext cx="3063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85048" y="3840480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4232" y="3840480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检查必须保留输入输出配对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2724912"/>
            <a:ext cx="45719" cy="1399031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p.2 Sec.1; p.5-6 Sec.2.2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Parameterized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论文的核心贡献是把状态族、门语义和验证查询统一进自动框架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SWTA、WTT 和函数包含/等价判定共同组成了端到端参数化验证框架。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36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47088"/>
            <a:ext cx="9966960" cy="402336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94183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SWTA 表示参数化量子状态族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1" y="2414016"/>
            <a:ext cx="95554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90068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WTT 表示门、电路和参数化程序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53312" y="2980944"/>
            <a:ext cx="9144000" cy="402336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3054096"/>
            <a:ext cx="85953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composition 自动生成整体 transducer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73351" y="3547872"/>
            <a:ext cx="87325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3621024"/>
            <a:ext cx="81838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验证归约为函数包含或函数等价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93391" y="4114800"/>
            <a:ext cx="8321040" cy="40233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94560" y="4187952"/>
            <a:ext cx="7772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AutoQ-Para 验证多个代表性案例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p.2-4 Sec.1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Parameterized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总体架构用颜色序列把前后条件锁在同一输入上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关系验证计算 `A_result = T(A_pre)`，再检查 `[[A_result]] ⊆ [[A_post]]`；等价验证则在所有计算基上比较两个输出…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37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66544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66544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`A_pre` 和 `A_post` 用相同颜色序列关联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60320"/>
            <a:ext cx="3749039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633472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33472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WTT 作用于 `A_pre` 得到 `A_result`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27248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200400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00400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正确性变成函数包含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874519"/>
            <a:ext cx="65836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abdulla_state_represen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077" y="1965960"/>
            <a:ext cx="1243845" cy="2103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18888" y="4087368"/>
            <a:ext cx="636422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mechanism crop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4526280"/>
            <a:ext cx="3154680" cy="621792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4663440"/>
            <a:ext cx="2788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程序等价依赖线性性和计算基完备性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p.3 Sec.1; p.11 Sec.4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Parameterized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SWTA 用颜色同步深度，用权重表达随 n 变化的振幅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SWTA 在 LSTA 的颜色同步上加入线性权重，因此能紧凑表达 uniform superposition 等 LSTA 难以表达的状态族。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38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3268979" cy="14401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084832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树路径对应基态，叶子对应振幅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7660" y="1938528"/>
            <a:ext cx="3268979" cy="1440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02252" y="2084832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252" y="244144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颜色强制同层使用同一类转移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1588"/>
            <a:ext cx="3268979" cy="14401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707891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06450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权重把子树生成推广为线性组合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7660" y="3561588"/>
            <a:ext cx="3268979" cy="1440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02252" y="3707891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2252" y="406450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SWTA 定义从序列到量子态的函数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1938528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abdulla_plain_tree_automa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305" y="2029968"/>
            <a:ext cx="833468" cy="1033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44967" y="3081528"/>
            <a:ext cx="343814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plain_tree_automaton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566160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abdulla_swta_uni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404" y="3657600"/>
            <a:ext cx="1033272" cy="10332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44967" y="4709160"/>
            <a:ext cx="343814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swta_uniform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p.4-6 Sec.2.1-2.2; Fig.1-5; p.9 Sec.3.1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Parameterized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WTT 把量子门写成对子树的线性变换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X、H、CX 等门都可表示为对左/右子树的交换、加权求和或条件交换。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39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66544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66544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`q(L)` 表示把状态 q 作用到左子树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60320"/>
            <a:ext cx="3749039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633472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33472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`q(R)` 表示把状态 q 作用到右子树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27248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200400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00400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X 门交换左右振幅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874519"/>
            <a:ext cx="65836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abdulla_basic_transduc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267" y="1965960"/>
            <a:ext cx="1661464" cy="2103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18888" y="4087368"/>
            <a:ext cx="636422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mechanism crop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4526280"/>
            <a:ext cx="3154680" cy="621792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4663440"/>
            <a:ext cx="2788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H 门生成加权和与差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526280"/>
            <a:ext cx="3154680" cy="621792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4663440"/>
            <a:ext cx="2788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CX 门只在控制位为 1 时交换目标分支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p.6-7 Sec.2.3; Fig.6-7; p.10 Sec.3.2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Parameterized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组合算子让门级语义自动拼成电路级语义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`T(A)` 计算 transducer 对 SWTA 的像，`T2 ◦ T1` 计算电路顺序组合，两者支撑自动构造。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40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47088"/>
            <a:ext cx="9966960" cy="402336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94183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transducer image 得到输出 SWTA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1" y="2414016"/>
            <a:ext cx="95554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90068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composition 把多个 WTT 合成一个 WTT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53312" y="2980944"/>
            <a:ext cx="9144000" cy="402336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3054096"/>
            <a:ext cx="85953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构造本质是带线性形式替换的乘积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73351" y="3547872"/>
            <a:ext cx="87325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3621024"/>
            <a:ext cx="81838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正确性由 Theorem 5.13 和 5.14 保证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93391" y="4114800"/>
            <a:ext cx="8321040" cy="40233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94560" y="4187952"/>
            <a:ext cx="7772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QFT 可由标准组合得到二次规模 transducer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37947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abdulla_verification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479" y="3886200"/>
            <a:ext cx="2173240" cy="10332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50807" y="4937760"/>
            <a:ext cx="238658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p.20-23 Sec.5.7-6.1; Theorem 5.13, 5.14, 6.1; Fig.15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Parameterized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参数化 transducer 通过 box 复用和状态元组漂移刻画无限重复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Algorithm 1 从固定 box transducer 出发，通过 offset、方向和 bgn/end 状态生成任意长度重复结构。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41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66544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66544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固定子电路先被抽象为 box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60320"/>
            <a:ext cx="3749039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633472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33472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offset 决定何时启动下一个 box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27248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200400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00400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`bgn/end` 表示还能否继续生成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874519"/>
            <a:ext cx="65836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abdulla_q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186" y="1965960"/>
            <a:ext cx="3877627" cy="2103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18888" y="4087368"/>
            <a:ext cx="636422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mechanism crop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4526280"/>
            <a:ext cx="3154680" cy="621792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4663440"/>
            <a:ext cx="2788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identity 状态 `iota` 可从元组中删除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526280"/>
            <a:ext cx="3154680" cy="621792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4663440"/>
            <a:ext cx="2788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primed symbol 处理确定性结束分支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p.24-26 Sec.6.2; Algorithm 1; Fig.16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Parameterized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函数包含可判定，语言包含不可判定但不是验证阻碍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论文避开 SWTA 语言包含的不可判定性，转而使用验证所需的函数包含/等价。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42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38528"/>
            <a:ext cx="5074920" cy="950976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已解决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103120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domain DFA 捕获 `dom([[A]])`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938528"/>
            <a:ext cx="5074920" cy="95097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084832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仍受限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103120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函数差异由 `A_minus` 变成全零叶检查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02736"/>
            <a:ext cx="5074920" cy="950976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49040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启发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7672" y="3767328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zero-invariant 可用 Karr 算法求解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602736"/>
            <a:ext cx="507492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749040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追问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3767328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函数包含/等价可判定，复杂度 ExpSpace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p.16-20 Sec.5.1-5.6; Theorem 5.1-5.11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Parameterized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实验覆盖算法、算术、纠错和优化等不同电路族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AutoQ-Para 的评估不是单一 toy case，而是覆盖 functional verification 和 equivalence checking…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43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01952"/>
            <a:ext cx="672084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1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证据点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084831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为什么重要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468879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542032"/>
            <a:ext cx="2514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C++ 原型 AutoQ-Para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542032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C++ 原型 AutoQ-Para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999232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072384"/>
            <a:ext cx="2514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环境：Intel i7-1365U、32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072384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环境：Intel i7-1365U、32 GiB RAM、Fe…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529583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02735"/>
            <a:ext cx="2514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功能验证：BV、ripple-carry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602735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功能验证：BV、ripple-carry adder、QECC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059935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133087"/>
            <a:ext cx="2514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等价验证：Grover 优化、Hamilt…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133087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等价验证：Grover 优化、Hamiltonian simu…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1938528"/>
            <a:ext cx="35661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abdulla_bv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792" y="2029968"/>
            <a:ext cx="2977934" cy="245059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36407" y="4498848"/>
            <a:ext cx="334670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formal object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p.11-15 Sec.4.1-4.6; Fig.9-14; Table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Parameterized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原型能在毫秒到 11 秒内完成参数化验证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所有案例均被成功验证；最慢的 adder 也在 11.007 秒完成，瓶颈来自电路和后置条件复杂度。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44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bdulla_grover_circu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67" y="1965960"/>
            <a:ext cx="4991481" cy="18105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" y="3794759"/>
            <a:ext cx="499262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result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bdulla_hamiltonia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945" y="1965960"/>
            <a:ext cx="1696029" cy="1810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27648" y="3794759"/>
            <a:ext cx="499262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result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590288"/>
            <a:ext cx="249631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4663440"/>
            <a:ext cx="227685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BV：0.014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9856" y="4590288"/>
            <a:ext cx="2496312" cy="384048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9584" y="4663440"/>
            <a:ext cx="227685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Grover：0.088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2472" y="4590288"/>
            <a:ext cx="249631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4663440"/>
            <a:ext cx="227685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QECC：0.314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5088" y="4590288"/>
            <a:ext cx="2496312" cy="384048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14815" y="4663440"/>
            <a:ext cx="227685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Hamiltonian simulation：0.663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p.15 Sec.4.6; Table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Parameterized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局限在规格与结构假设，但启发是把量子验证做成语言包含问题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该框架开辟了全自动参数化验证路线，但仍依赖可构造规格、结构化重复模式和可控的 transducer 规模。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Abdulla et al., POPL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45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38528"/>
            <a:ext cx="5074920" cy="950976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已解决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103120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规格 SWTA 仍需要用户建模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938528"/>
            <a:ext cx="5074920" cy="95097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084832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仍受限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103120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composition 最坏可能随电路深度指数增长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02736"/>
            <a:ext cx="5074920" cy="950976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49040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启发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7672" y="3767328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Algorithm 1 依赖 box 的结构条件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602736"/>
            <a:ext cx="507492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749040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追问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3767328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语言层面的包含/等价不可判定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4937760"/>
            <a:ext cx="2560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abdulla_hamiltonia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329" y="5029200"/>
            <a:ext cx="325500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13648" y="5394960"/>
            <a:ext cx="2340863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p.15 Sec.4.6; p.18-23 Sec.5-6; p.26-27 Sec.7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420624"/>
            <a:ext cx="16459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POPL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32688"/>
            <a:ext cx="1554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EAF7FF"/>
                </a:solidFill>
                <a:latin typeface="Microsoft YaHei"/>
              </a:rPr>
              <a:t>paper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48640"/>
            <a:ext cx="8046720" cy="11155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500" b="1">
                <a:solidFill>
                  <a:srgbClr val="17202A"/>
                </a:solidFill>
                <a:latin typeface="Microsoft YaHei"/>
              </a:rPr>
              <a:t>Qurts: Automatic Quantum Uncomputation by Affine Types with Lifetime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2928" y="1874519"/>
            <a:ext cx="58521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2928" y="2286000"/>
            <a:ext cx="766267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52928" y="2606040"/>
            <a:ext cx="768096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000" b="1">
                <a:solidFill>
                  <a:srgbClr val="0B2F5B"/>
                </a:solidFill>
                <a:latin typeface="Microsoft YaHei"/>
              </a:rPr>
              <a:t>论文的核心不是提出一个具体反计算启发式，而是给出一种可以静态表达自动反计算条件的类型系统。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749039"/>
            <a:ext cx="448056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800">
                <a:solidFill>
                  <a:srgbClr val="17202A"/>
                </a:solidFill>
                <a:latin typeface="Microsoft YaHei"/>
              </a:defRPr>
            </a:pPr>
            <a:r>
              <a:t>• POPL 2025, Article 6</a:t>
            </a:r>
          </a:p>
          <a:p>
            <a:pPr>
              <a:lnSpc>
                <a:spcPct val="103000"/>
              </a:lnSpc>
              <a:spcAft>
                <a:spcPts val="500"/>
              </a:spcAft>
              <a:defRPr sz="1800">
                <a:solidFill>
                  <a:srgbClr val="17202A"/>
                </a:solidFill>
                <a:latin typeface="Microsoft YaHei"/>
              </a:defRPr>
            </a:pPr>
            <a:r>
              <a:t>• Kengo Hirata, Chris Heunen</a:t>
            </a:r>
          </a:p>
          <a:p>
            <a:pPr>
              <a:lnSpc>
                <a:spcPct val="103000"/>
              </a:lnSpc>
              <a:spcAft>
                <a:spcPts val="500"/>
              </a:spcAft>
              <a:defRPr sz="1800">
                <a:solidFill>
                  <a:srgbClr val="17202A"/>
                </a:solidFill>
                <a:latin typeface="Microsoft YaHei"/>
              </a:defRPr>
            </a:pPr>
            <a:r>
              <a:t>• Rust lifetime + quantum uncomputation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47472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hirata_pebble_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653443"/>
            <a:ext cx="3474720" cy="1453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44967" y="5212080"/>
            <a:ext cx="343814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paper anchor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27648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46 / 60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Qurts uncomputation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脏辅助比特不能直接丢，反计算的时机决定空间和时间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量子信息不能任意复制或丢弃，辅助比特若与主状态纠缠，直接测量会改变整个计算。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47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01952"/>
            <a:ext cx="507492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1"/>
            <a:ext cx="44805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Before /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3044952"/>
            <a:ext cx="4572000" cy="9144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2" y="2706624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4" y="2706624"/>
            <a:ext cx="406908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No-cloning 禁止隐式复制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" y="3566160"/>
            <a:ext cx="4572000" cy="9144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2" y="3227832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0744" y="3227832"/>
            <a:ext cx="406908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No-deleting 禁止隐式丢弃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" y="3886200"/>
            <a:ext cx="43434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hirata_languag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820" y="3977639"/>
            <a:ext cx="2055744" cy="7863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88720" y="4782312"/>
            <a:ext cx="412394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crop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901952"/>
            <a:ext cx="5074920" cy="3401568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084831"/>
            <a:ext cx="44805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After / paper move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9672" y="3044952"/>
            <a:ext cx="4571999" cy="9144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2706624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3" y="2706624"/>
            <a:ext cx="406908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dirty qubit 会污染输出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9672" y="3566160"/>
            <a:ext cx="4571999" cy="9144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11112" y="3227832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3" y="3227832"/>
            <a:ext cx="406908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早反计算省空间，晚反计算省时间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Sec. 1, Sec. 2.1, pp. 1-5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Qurts uncomputation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关键术语是一条从线性到 affine 的时间窗口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Qurts 的核心对象是“在 lifetime 内 affine，离开 lifetime 后 linear”的值。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48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3268979" cy="14401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084832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linear：必须精确使用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7660" y="1938528"/>
            <a:ext cx="3268979" cy="1440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02252" y="2084832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252" y="244144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affine：允许 drop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1588"/>
            <a:ext cx="3268979" cy="14401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707891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06450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#'a T：限时 affine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7660" y="3561588"/>
            <a:ext cx="3268979" cy="1440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02252" y="3707891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2252" y="406450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&amp;'a qbit：保留反计算依赖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1938528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hirata_pebble_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606" y="2029968"/>
            <a:ext cx="2470867" cy="1033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44967" y="3081528"/>
            <a:ext cx="343814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pebble_game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Sec. 1-3, pp. 2-8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Qurts uncomputation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现有工作各解决一段，但没有统一表达 lifetime-affine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Silq、Unqomp/Reqomp、Qrisp 等都支持某种反计算，但类型表达力、策略灵活性和静态保证没有同时具备。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49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3268979" cy="14401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084832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ReVerC 开启自动反计算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7660" y="1938528"/>
            <a:ext cx="3268979" cy="1440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02252" y="2084832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252" y="244144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Silq 使用 const/qfree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1588"/>
            <a:ext cx="3268979" cy="14401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707891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06450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Unqomp/Reqomp 面向电路图优化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7660" y="3561588"/>
            <a:ext cx="3268979" cy="1440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02252" y="3707891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2252" y="406450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Qrisp 依赖 permeability 检查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2011680"/>
            <a:ext cx="3383280" cy="338328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3127248"/>
            <a:ext cx="26517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3000"/>
              </a:lnSpc>
            </a:pPr>
            <a:r>
              <a:rPr sz="2200" b="1">
                <a:solidFill>
                  <a:srgbClr val="0B2F5B"/>
                </a:solidFill>
                <a:latin typeface="Microsoft YaHei"/>
              </a:rPr>
              <a:t>二维地图
不是顺序流程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Table 1, Sec. 6, pp. 3, 23-25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Qurts uncomputation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自动反计算难在“可以丢弃”不是全局属性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一个量子值是否可 drop 取决于用于清理它的依赖是否仍可访问，因此必须随程序位置变化。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50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38528"/>
            <a:ext cx="5074920" cy="950976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已解决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103120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不是纯 linear，也不是纯 affine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938528"/>
            <a:ext cx="5074920" cy="95097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084832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仍受限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103120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drop 太早或太晚都可能错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02736"/>
            <a:ext cx="5074920" cy="950976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49040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启发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7672" y="3767328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控制量子比特必须仍然 alive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602736"/>
            <a:ext cx="507492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749040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追问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3767328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imperative 代码会暴露 ad hoc 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Sec. 1, Fig. 12, pp. 2, 24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Qurts uncomputation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论文目标是给自动反计算一个 Rust-like 静态接口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Qurts 用最小的新类型构造 #'a 统一表达反计算、生命周期和 drop 安全性。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51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212848"/>
            <a:ext cx="4480560" cy="1005840"/>
          </a:xfrm>
          <a:prstGeom prst="roundRect">
            <a:avLst/>
          </a:prstGeom>
          <a:solidFill>
            <a:srgbClr val="B7791F"/>
          </a:solidFill>
          <a:ln w="1270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0" y="2423160"/>
            <a:ext cx="3931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3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Qurts 用最小的新类型构造 #'a 统一表达反计算、生命周期和 dro…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965960"/>
            <a:ext cx="3063240" cy="71323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39112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039112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Qurts-core 语言与示例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76472" y="2322576"/>
            <a:ext cx="64008" cy="402335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75320" y="1965960"/>
            <a:ext cx="3063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2039112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2039112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lifetime-indexed affine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322576"/>
            <a:ext cx="45719" cy="402335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3232" y="3767328"/>
            <a:ext cx="3063240" cy="71323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840480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3840480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eager drop 的 simulation 语义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6472" y="2724912"/>
            <a:ext cx="64008" cy="1399031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75320" y="3767328"/>
            <a:ext cx="3063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85048" y="3840480"/>
            <a:ext cx="320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4232" y="3840480"/>
            <a:ext cx="2514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flexible pebbling 的物理语义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2724912"/>
            <a:ext cx="45719" cy="1399031"/>
          </a:xfrm>
          <a:prstGeom prst="rect">
            <a:avLst/>
          </a:prstGeom>
          <a:solidFill>
            <a:srgbClr val="AFC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Contributions, p. 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Qurts uncomputation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总体架构把类型检查和反计算策略解耦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类型系统负责证明 drop 合法，pebble 语义负责保留不同实现策略的自由度。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52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47088"/>
            <a:ext cx="9966960" cy="402336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94183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程序带 lifetime preorder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1" y="2414016"/>
            <a:ext cx="95554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90068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类型上下文跟踪 ownership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53312" y="2980944"/>
            <a:ext cx="9144000" cy="402336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3054096"/>
            <a:ext cx="85953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simulation 语义解释 drop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73351" y="3547872"/>
            <a:ext cx="87325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3621024"/>
            <a:ext cx="81838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uncomputation 语义生成 circuit graph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93391" y="4114800"/>
            <a:ext cx="8321040" cy="40233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94560" y="4187952"/>
            <a:ext cx="7772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strategy 选择留给后端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37947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hirata_syntax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6779" y="3886200"/>
            <a:ext cx="1454641" cy="10332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50807" y="4937760"/>
            <a:ext cx="238658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Sec. 3-5, pp. 8-23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Qurts uncomputation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#'a T 用 lifetime 给 affine 权限加上截止时间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#'a T 是 Qurts 的最小但关键扩展：drop 只在 'a 仍在 lifetime preorder 中时允许。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53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66544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66544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newlft/endlft 显式打开和关闭 lifetime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60320"/>
            <a:ext cx="3749039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633472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33472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A ⊢ T : Drop 控制可丢弃性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27248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200400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00400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&amp;'a T 会冻结 owner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874519"/>
            <a:ext cx="65836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hirata_languag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039" y="1965960"/>
            <a:ext cx="5497920" cy="2103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18888" y="4087368"/>
            <a:ext cx="636422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mechanism crop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4526280"/>
            <a:ext cx="3154680" cy="621792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4663440"/>
            <a:ext cx="2788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lifetime 结束时引用必须消失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Sec. 3.2, Fig. 4-6, pp. 13-15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Qurts uncomputation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qif 的返回值继承控制比特的 lifetime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如果输出依赖 quantum control，那么清理输出也必须在 control 引用失效前完成。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54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66544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66544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qif 两个分支在叠加中执行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60320"/>
            <a:ext cx="3749039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633472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33472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返回值类型变成 #'a 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27248"/>
            <a:ext cx="37490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200400"/>
            <a:ext cx="29260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00400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分支需 Purely Quantum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874519"/>
            <a:ext cx="65836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hirata_pure_qua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299" y="1965960"/>
            <a:ext cx="5867400" cy="2103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18888" y="4087368"/>
            <a:ext cx="636422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mechanism crop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4526280"/>
            <a:ext cx="3154680" cy="621792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4663440"/>
            <a:ext cx="2788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禁止 measurement under control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526280"/>
            <a:ext cx="3154680" cy="621792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4663440"/>
            <a:ext cx="2788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防止 classical data 进入叠加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Sec. 3.1-3.2, Fig. 5, Fig. 7, pp. 10, 15-16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Qurts uncomputation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lifted isometry 保留可反计算性，普通 unitary 会丢失它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Qurts 区分一般量子门和经典可逆/可嵌入函数的 lift，后者能把 lifetime-affine 信息传给输出。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55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52578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hirata_simulation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508" y="1965960"/>
            <a:ext cx="3677518" cy="2130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" y="4114800"/>
            <a:ext cx="503834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2578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irata_toy_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579" y="1965960"/>
            <a:ext cx="3755921" cy="21305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73368" y="4114800"/>
            <a:ext cx="503834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17720"/>
            <a:ext cx="251917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4690872"/>
            <a:ext cx="2299715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[c] 来自 injective Boolean function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6996" y="4617720"/>
            <a:ext cx="2519172" cy="384048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06724" y="4690872"/>
            <a:ext cx="2299715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[not], [cnot], [swap] 是 lifted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2472" y="4617720"/>
            <a:ext cx="251917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4690872"/>
            <a:ext cx="2299715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lifted 输出继承输入 lifetime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27948" y="4617720"/>
            <a:ext cx="2519172" cy="384048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C8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37676" y="4690872"/>
            <a:ext cx="2299715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Grover oracle temporary 可自动 drop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Sec. 3.1, Fig. 2, pp. 8-12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Qurts uncomputation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类型错误对应真实的非物理 drop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Qurts 拒绝的程序不是保守语法限制，而是在阻止概率范数可能增大的非法反计算。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56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56231"/>
            <a:ext cx="690372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hirata_uncomp_seman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502023"/>
            <a:ext cx="6720840" cy="2210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" y="5285232"/>
            <a:ext cx="668426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main crop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4041648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irata_drop_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4133087"/>
            <a:ext cx="2066544" cy="10332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36407" y="5184648"/>
            <a:ext cx="334670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second crop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901952"/>
            <a:ext cx="35478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82127" y="1975104"/>
            <a:ext cx="32186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lifetime 结束后 affine 权限消失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2468880"/>
            <a:ext cx="3547872" cy="4114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2127" y="2542032"/>
            <a:ext cx="32186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线性值不能被隐式 drop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3035808"/>
            <a:ext cx="35478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2127" y="3108960"/>
            <a:ext cx="32186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不可反计算会导致范数增加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Sec. 3.1, Sec. 4, pp. 10-19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Qurts uncomputation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正确性定理把“可 drop”落实为保范与策略无关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论文用 simulation 语义证明 drop 安全，再用 pebble 语义证明策略选择不会改变最终状态。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57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01952"/>
            <a:ext cx="672084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1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证据点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084831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为什么重要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468879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542032"/>
            <a:ext cx="2514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Progress：well-typed 可…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542032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Progress：well-typed 可继续执行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999232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072384"/>
            <a:ext cx="2514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Well-formedness 保持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072384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Well-formedness 保持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529583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02735"/>
            <a:ext cx="2514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概率总和保持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602735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概率总和保持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059935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133087"/>
            <a:ext cx="2514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调度顺序不影响最终状态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133087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调度顺序不影响最终状态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1938528"/>
            <a:ext cx="35661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hirata_typing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821" y="2029968"/>
            <a:ext cx="2763877" cy="245059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36407" y="4498848"/>
            <a:ext cx="334670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formal object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Lemma 4.2, Theorem 4.5, Theorem 5.3-5.4, pp. 19, 22-23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Qurts uncomputation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评估主要是形式化覆盖，而不是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论文没有报告运行时实验；它用示例族、规则覆盖和定理来评估类型系统是否表达了目标现象。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58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01952"/>
            <a:ext cx="672084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1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证据点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084831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为什么重要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468879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542032"/>
            <a:ext cx="2514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Grover inner loop 展示简…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542032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Grover inner loop 展示简洁性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999232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072384"/>
            <a:ext cx="2514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and/and3 展示临时比特清理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072384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and/and3 展示临时比特清理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529583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02735"/>
            <a:ext cx="2514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CX 例子区分两种编码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602735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CX 例子区分两种编码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059935"/>
            <a:ext cx="6263640" cy="9144"/>
          </a:xfrm>
          <a:prstGeom prst="rect">
            <a:avLst/>
          </a:prstGeom>
          <a:solidFill>
            <a:srgbClr val="E1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133087"/>
            <a:ext cx="2514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toy example 跟踪小步语义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133087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toy example 跟踪小步语义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1938528"/>
            <a:ext cx="35661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hirata_grove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19" y="2701326"/>
            <a:ext cx="3383279" cy="1107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36407" y="4498848"/>
            <a:ext cx="334670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formal object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Sec. 3-5, Fig. 2, Fig. 10, pp. 8-23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Qurts uncomputation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结果表明 Qurts 更像“类型级前端”，不是替代所有优化器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Qurts 的优势在于静态、局部、可组合地证明反计算合法；资源最优策略仍可交给后端。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59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3268979" cy="14401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084832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比 Silq 更细粒度标注输出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7660" y="1938528"/>
            <a:ext cx="3268979" cy="1440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02252" y="2084832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252" y="244144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比 qfree 函数级约束更局部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1588"/>
            <a:ext cx="3268979" cy="14401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707891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06450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比 permeability simulation 更类型化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7660" y="3561588"/>
            <a:ext cx="3268979" cy="1440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02252" y="3707891"/>
            <a:ext cx="29946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2252" y="4064508"/>
            <a:ext cx="2948939" cy="8732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pebble 语义容纳多种策略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1938528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hirata_uncomp_seman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299" y="2029968"/>
            <a:ext cx="3141480" cy="1033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44967" y="3081528"/>
            <a:ext cx="3438144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uncomp_semantics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Table 1, Sec. 6, pp. 3, 23-25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Qurts uncomputation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0996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2700" b="1">
                <a:solidFill>
                  <a:srgbClr val="17202A"/>
                </a:solidFill>
                <a:latin typeface="Microsoft YaHei"/>
              </a:rPr>
              <a:t>Qurts 打开了类型系统和量子资源优化之间的接口问题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54864" cy="4114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900" b="1">
                <a:solidFill>
                  <a:srgbClr val="0B2F5B"/>
                </a:solidFill>
                <a:latin typeface="Microsoft YaHei"/>
              </a:rPr>
              <a:t>最大的开放问题是把干净的核心理论变成完整编译器，并把 lifetime 信息连接到实际资源优化。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83111" cy="9144"/>
          </a:xfrm>
          <a:prstGeom prst="rect">
            <a:avLst/>
          </a:prstGeom>
          <a:solidFill>
            <a:srgbClr val="C4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5303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Hirata &amp; Heunen, POPL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327648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60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38528"/>
            <a:ext cx="5074920" cy="950976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已解决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103120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编译器实现仍是 future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938528"/>
            <a:ext cx="5074920" cy="95097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084832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仍受限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103120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递归、mutable variables、ADT 未覆盖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02736"/>
            <a:ext cx="5074920" cy="950976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49040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启发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7672" y="3767328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pebble 优化预计 PSPACE-complete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602736"/>
            <a:ext cx="507492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749040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B7791F"/>
                </a:solidFill>
                <a:latin typeface="Microsoft YaHei"/>
              </a:rPr>
              <a:t>追问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3767328"/>
            <a:ext cx="352044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17202A"/>
                </a:solidFill>
                <a:latin typeface="Microsoft YaHei"/>
              </a:rPr>
              <a:t>可探索 QBF 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4937760"/>
            <a:ext cx="2560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hirata_silq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073" y="5029200"/>
            <a:ext cx="63001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13648" y="5394960"/>
            <a:ext cx="2340863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07024"/>
            <a:ext cx="10607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5C6B7A"/>
                </a:solidFill>
                <a:latin typeface="Microsoft YaHei"/>
              </a:rPr>
              <a:t>Sec. 7, p.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3437</Words>
  <Application>Microsoft Macintosh PowerPoint</Application>
  <PresentationFormat>宽屏</PresentationFormat>
  <Paragraphs>742</Paragraphs>
  <Slides>56</Slides>
  <Notes>0</Notes>
  <HiddenSlides>30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1" baseType="lpstr">
      <vt:lpstr>Microsoft YaHei</vt:lpstr>
      <vt:lpstr>Microsoft YaHei</vt:lpstr>
      <vt:lpstr>Arial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Debin Xiang</cp:lastModifiedBy>
  <cp:revision>2</cp:revision>
  <dcterms:created xsi:type="dcterms:W3CDTF">2013-01-27T09:14:16Z</dcterms:created>
  <dcterms:modified xsi:type="dcterms:W3CDTF">2026-05-14T05:59:13Z</dcterms:modified>
  <cp:category/>
</cp:coreProperties>
</file>