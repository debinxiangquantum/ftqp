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498079" y="228600"/>
            <a:ext cx="3657600" cy="3657600"/>
          </a:xfrm>
          <a:prstGeom prst="arc">
            <a:avLst/>
          </a:prstGeom>
          <a:noFill/>
          <a:ln w="1397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8321040" y="2697480"/>
            <a:ext cx="3840480" cy="3246120"/>
          </a:xfrm>
          <a:prstGeom prst="arc">
            <a:avLst/>
          </a:prstGeom>
          <a:noFill/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BRIEFING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9494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CiPR-FTQC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142646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Code-indexed Probabilistic Resource Calculus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Universal Fault-Tolerant Quantum Computation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" y="2304288"/>
            <a:ext cx="6400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magic-state factories、code switching、teleportation、measurement-free feedback 等异构路径，统一为带证书的 typed capability rules。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3310128"/>
            <a:ext cx="3090672" cy="1554480"/>
          </a:xfrm>
          <a:prstGeom prst="roundRect">
            <a:avLst>
              <a:gd name="adj" fmla="val 3529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47288"/>
            <a:ext cx="27614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logical program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H; T; CCZ; measure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compiler question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Which certified path acquires T / CCZ?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434840" y="3703320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3822192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Acquire[g,q]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886200" y="3867912"/>
            <a:ext cx="438912" cy="201168"/>
          </a:xfrm>
          <a:prstGeom prst="rightArrow">
            <a:avLst/>
          </a:prstGeom>
          <a:solidFill>
            <a:srgbClr val="14B8A6">
              <a:alpha val="9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3867912"/>
            <a:ext cx="438912" cy="201168"/>
          </a:xfrm>
          <a:prstGeom prst="rightArrow">
            <a:avLst/>
          </a:prstGeom>
          <a:solidFill>
            <a:srgbClr val="14B8A6">
              <a:alpha val="9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38544" y="35204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3639312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83880" y="3867912"/>
            <a:ext cx="438912" cy="201168"/>
          </a:xfrm>
          <a:prstGeom prst="rightArrow">
            <a:avLst/>
          </a:prstGeom>
          <a:solidFill>
            <a:srgbClr val="14B8A6">
              <a:alpha val="9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35204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3639312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sidecar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trace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5897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目标：可组合、可检查、可优化的 FTQC 编译中间层</a:t>
            </a:r>
            <a:endParaRPr lang="en-US" sz="1200" dirty="0">
              <a:solidFill>
                <a:srgbClr val="E2E8F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问题：非 Clifford 实现选择散落在不同层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124712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现有栈通常先把程序看作普通 logical circuit，再由后端工程流程决定如何实现 T/CCZ、工厂调度、decoder 与 error budget。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EDE9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28800"/>
            <a:ext cx="100584" cy="1325880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751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物理论文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2304288"/>
            <a:ext cx="280720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证明某个 gadget / protocol 是 fault-tolerant；但只给 local correctness。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828800"/>
            <a:ext cx="100584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751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estimator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304288"/>
            <a:ext cx="280720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统计 T-count、factory volume、cycles；通常默认 implementation path 已经选定。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74736" y="1828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1828800"/>
            <a:ext cx="10058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9751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compiler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75904" y="2304288"/>
            <a:ext cx="280720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负责 placement/routing/lowering；但不表达高层 soundness theorem。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13632" y="2267712"/>
            <a:ext cx="292608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71816" y="2267712"/>
            <a:ext cx="292608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3950208"/>
            <a:ext cx="9921240" cy="1170432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1879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 PL/compiler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24528" y="4041648"/>
            <a:ext cx="64465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many certified FTQC implementation paths, how do we safely compose, choose among, and preserve logical correctness, resource bounds, and assumptions end to end?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65960" y="5559552"/>
            <a:ext cx="1325880" cy="310896"/>
          </a:xfrm>
          <a:prstGeom prst="roundRect">
            <a:avLst>
              <a:gd name="adj" fmla="val 41176"/>
            </a:avLst>
          </a:prstGeom>
          <a:solidFill>
            <a:srgbClr val="CCFBF1"/>
          </a:solidFill>
          <a:ln w="1016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39112" y="562813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5559552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562813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5559552"/>
            <a:ext cx="1051560" cy="310896"/>
          </a:xfrm>
          <a:prstGeom prst="roundRect">
            <a:avLst>
              <a:gd name="adj" fmla="val 41176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562813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5559552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FFE4E6"/>
          </a:solidFill>
          <a:ln w="10160">
            <a:solidFill>
              <a:srgbClr val="BE1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56281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18120" y="5559552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EDE9FE"/>
          </a:solidFill>
          <a:ln w="1016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1272" y="56281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论文主张：Universal FTQC 是 typed resource planning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86384" y="1234440"/>
            <a:ext cx="106527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481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Universal FTQC becomes a typed, probabilistic, resource-aware compilation problem.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2788920"/>
            <a:ext cx="3035808" cy="1051560"/>
          </a:xfrm>
          <a:prstGeom prst="roundRect">
            <a:avLst>
              <a:gd name="adj" fmla="val 6957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788920"/>
            <a:ext cx="100584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93522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Acquire[g,q]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50976" y="3264408"/>
            <a:ext cx="26883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T/CCZ/Rz 的获得统一为编译期 acquisition goal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315968" y="2788920"/>
            <a:ext cx="3035808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788920"/>
            <a:ext cx="100584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293522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Code-indexed typestate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4517136" y="3264408"/>
            <a:ext cx="26883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: Q[code, distance, correctness_mode]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882128" y="2788920"/>
            <a:ext cx="3035808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82128" y="2788920"/>
            <a:ext cx="100584" cy="1051560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293522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resources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083296" y="3264408"/>
            <a:ext cx="26883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magic states / Bell pairs / aux states 一次性消费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749808" y="4434840"/>
            <a:ext cx="3035808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434840"/>
            <a:ext cx="10058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58114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 algebra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50976" y="4910328"/>
            <a:ext cx="26883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= &lt;logical_error, physical_qubits, ftqc_cycles&gt;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315968" y="4434840"/>
            <a:ext cx="3035808" cy="1051560"/>
          </a:xfrm>
          <a:prstGeom prst="roundRect">
            <a:avLst>
              <a:gd name="adj" fmla="val 6957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15968" y="4434840"/>
            <a:ext cx="100584" cy="105156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7136" y="458114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atoms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517136" y="4910328"/>
            <a:ext cx="26883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规则是 certified macros，不是黑箱 apply U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882128" y="4434840"/>
            <a:ext cx="3035808" cy="105156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82128" y="4434840"/>
            <a:ext cx="100584" cy="1051560"/>
          </a:xfrm>
          <a:prstGeom prst="rect">
            <a:avLst/>
          </a:prstGeom>
          <a:solidFill>
            <a:srgbClr val="1580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83296" y="458114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Certificate sidecar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8083296" y="4910328"/>
            <a:ext cx="26883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 / Certified / Assumed 边界可审计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786384" y="5989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E1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81328" y="5961888"/>
            <a:ext cx="9692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不声称自动发明任意新 FTQC 协议；声称一旦协议进入 certified rule library，compiler 能组合、比较、选择与审计。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为什么重要：FTQC 正走向异构 universal strategies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8952" y="141732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417320"/>
            <a:ext cx="100584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63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Surface-code factories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960120" y="1892808"/>
            <a:ext cx="19842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factory-rich backend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T-state throughput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47872" y="141732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47872" y="1417320"/>
            <a:ext cx="100584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563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 / tetrahedral codes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749040" y="1892808"/>
            <a:ext cx="19842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transversal Clifford /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switching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36792" y="141732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EDE9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1417320"/>
            <a:ext cx="100584" cy="1261872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563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Neutral atoms / ions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537960" y="1892808"/>
            <a:ext cx="19842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nonlocal operations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MSD experiments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25712" y="1417320"/>
            <a:ext cx="2331720" cy="1261872"/>
          </a:xfrm>
          <a:prstGeom prst="roundRect">
            <a:avLst>
              <a:gd name="adj" fmla="val 5797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25712" y="1417320"/>
            <a:ext cx="10058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563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Measurement-slow devices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9326880" y="1892808"/>
            <a:ext cx="198424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coherent feedback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measurement-free switching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2461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一个 logical T 不再有固定答案，而是带约束的编译选择：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3657600"/>
            <a:ext cx="5166360" cy="178308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794760"/>
            <a:ext cx="4837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Acquire[T, q] under K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 = { error_budget, space_budget, time_budget,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factory_slots, measurement_latency,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decoder_latency, backend_capabilities,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allowed_certificate_level }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583680" y="3429000"/>
            <a:ext cx="4480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3703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没有形式化接口时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03136" y="4160520"/>
            <a:ext cx="256032" cy="256032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421081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60920" y="4206240"/>
            <a:ext cx="338328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混合后难以证明等价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803136" y="4489704"/>
            <a:ext cx="256032" cy="256032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453999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60920" y="4535424"/>
            <a:ext cx="338328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comparison 难复现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803136" y="4818888"/>
            <a:ext cx="256032" cy="256032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4869179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60920" y="4864608"/>
            <a:ext cx="338328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scattered / lost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803136" y="5148072"/>
            <a:ext cx="256032" cy="256032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5198364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60920" y="5193792"/>
            <a:ext cx="338328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新协议接入需要 ad hoc logic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ABSTRACTION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核心抽象：Acquire[g,q] 是编译期 elaboration goal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4206240" cy="2240280"/>
          </a:xfrm>
          <a:prstGeom prst="roundRect">
            <a:avLst>
              <a:gd name="adj" fmla="val 2449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8770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Acquire[g, q]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 ∈ { T, CCZ, Toffoli, Rz(θ), GateFamily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meaning: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choose a certified path under current code, noise,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resources, backend constraints and trust policy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23560" y="1234440"/>
            <a:ext cx="2450592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1234440"/>
            <a:ext cx="100584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24728" y="1380744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switch + transv + switch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8458200" y="1234440"/>
            <a:ext cx="2450592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0" y="1234440"/>
            <a:ext cx="10058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59368" y="1380744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distill / cultivate + inject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623560" y="2359152"/>
            <a:ext cx="2450592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2359152"/>
            <a:ext cx="100584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250545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logical teleportation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458200" y="2359152"/>
            <a:ext cx="2450592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2359152"/>
            <a:ext cx="10058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9368" y="250545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pieceable FT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623560" y="3483864"/>
            <a:ext cx="2450592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3483864"/>
            <a:ext cx="100584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4728" y="3630168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hardware-tailored rotation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458200" y="3483864"/>
            <a:ext cx="2450592" cy="777240"/>
          </a:xfrm>
          <a:prstGeom prst="roundRect">
            <a:avLst>
              <a:gd name="adj" fmla="val 9412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3483864"/>
            <a:ext cx="100584" cy="77724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9368" y="3630168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measurement-free switching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074920" y="2258568"/>
            <a:ext cx="384048" cy="50292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4434840"/>
            <a:ext cx="7991856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95728" y="4617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Elaboration invariant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0" y="45720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acquire goals elaborate into certified use R(...) rules.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OBJECTS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Code-indexed typestate：记录 code 与 soundness mode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069080" cy="1874520"/>
          </a:xfrm>
          <a:prstGeom prst="roundRect">
            <a:avLst>
              <a:gd name="adj" fmla="val 292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399032"/>
            <a:ext cx="37398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 : Q[code, distance, μ]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μ ::= State | Observable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Q[c,d,State] &lt;: Q[c,d,Observable]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reverse direction is invalid</a:t>
            </a:r>
            <a:endParaRPr lang="en-US" sz="910" dirty="0"/>
          </a:p>
        </p:txBody>
      </p:sp>
      <p:sp>
        <p:nvSpPr>
          <p:cNvPr id="6" name="Shape 4"/>
          <p:cNvSpPr/>
          <p:nvPr/>
        </p:nvSpPr>
        <p:spPr>
          <a:xfrm>
            <a:off x="5413248" y="1261872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1664208"/>
            <a:ext cx="1143000" cy="493776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9592" y="178308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50608" y="1810512"/>
            <a:ext cx="594360" cy="201168"/>
          </a:xfrm>
          <a:prstGeom prst="rightArrow">
            <a:avLst/>
          </a:prstGeom>
          <a:solidFill>
            <a:srgbClr val="15803D">
              <a:alpha val="92000"/>
            </a:srgbClr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73568" y="1664208"/>
            <a:ext cx="1691640" cy="493776"/>
          </a:xfrm>
          <a:prstGeom prst="roundRect">
            <a:avLst>
              <a:gd name="adj" fmla="val 1481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78308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2395728"/>
            <a:ext cx="47091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State：中间 encoded state 接近理想 logical state。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Observable：只保证最终 logical measurement distribution 正确。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49808" y="3822192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822192"/>
            <a:ext cx="100584" cy="100584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9684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静态拒绝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" y="4297680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transv T q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当 q : Q[Steane3,3,State] 且无 CapTrans(Steane3,T)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4498848" y="3822192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98848" y="3822192"/>
            <a:ext cx="100584" cy="100584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39684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静态拒绝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0016" y="4297680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T q_obs m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当 q_obs : Q[c,d,Observable] 但 injection 需要 State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8247888" y="3822192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47888" y="3822192"/>
            <a:ext cx="100584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3968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表达能力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49056" y="4297680"/>
            <a:ext cx="2624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支持 algorithmic FT：最终分布正确，但中间态不强行伪装为 codeword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AND CONTEXTS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linear resources：资源必须显式产生与消费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71600"/>
            <a:ext cx="3511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Ω; Γ; Δ ⊢ P : A ! E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Ω  classical bits / syndromes / frame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Γ  encoded logical data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Δ  linear resource context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  effect bound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5193792" y="128016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66944" y="1399032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raw T states
Surface(d), ε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42632" y="1554480"/>
            <a:ext cx="621792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9832" y="12344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2984" y="1353312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Surface15to1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postselect + decode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0" y="1554480"/>
            <a:ext cx="621792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12801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31552" y="1399032"/>
            <a:ext cx="1271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: TState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cleaner output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738360" y="2148840"/>
            <a:ext cx="0" cy="59436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38360" y="2834640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1512" y="295351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T q m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 m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143000" y="4160520"/>
            <a:ext cx="9829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407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Linearity guarantee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56432" y="4343400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Magic / Bell / aux resources are single-use; postselection and retry policy are recorded explicitly.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 algebra：主效应聚焦 FTQC 三元 tradeoff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6276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E(P) = ⟨ εL, S, T 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10912" y="11430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10912" y="1143000"/>
            <a:ext cx="100584" cy="100584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2893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εL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618488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error / failure upper bound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59752" y="11430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59752" y="1143000"/>
            <a:ext cx="100584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2893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1618488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physical qubits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08592" y="11430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08592" y="1143000"/>
            <a:ext cx="10058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12893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09760" y="1618488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FTQC / code cycles on critical path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063240"/>
            <a:ext cx="5486400" cy="164592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200400"/>
            <a:ext cx="5157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Sequential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E(P;Q) = ⟨ ε₁+ε₂, max(S₁,S₂), T₁+T₂ ⟩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Parallel on disjoint qubits/resources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E(P || Q) = ⟨ εP+εQ, SP+SQ, max(TP,TQ) ⟩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7086600" y="3063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310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Metadata ≠ core effect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3767328"/>
            <a:ext cx="358444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acceptance_bound · retry_policy · decoder assumptions · reset requirements · connectivity · certificate levels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88352" y="4261104"/>
            <a:ext cx="3246120" cy="274320"/>
          </a:xfrm>
          <a:prstGeom prst="roundRect">
            <a:avLst>
              <a:gd name="adj" fmla="val 41176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4329684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time = T/α</a:t>
            </a:r>
            <a:endParaRPr lang="en-US" sz="820" dirty="0">
              <a:solidFill>
                <a:srgbClr val="78350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atoms：协议规则是 certified macros，而非黑箱 primitive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3232" y="1335024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CCFBF1"/>
          </a:solidFill>
          <a:ln w="1016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0360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410712" y="1335024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83864" y="140360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08192" y="1335024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EDE9FE"/>
          </a:solidFill>
          <a:ln w="1016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1344" y="140360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clifford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05672" y="1335024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78824" y="1403604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transv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3232" y="1938528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CCFBF1"/>
          </a:solidFill>
          <a:ln w="1016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00710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pauli_check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10712" y="1938528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200710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08192" y="1938528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EDE9FE"/>
          </a:solidFill>
          <a:ln w="1016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200710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805672" y="1938528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8824" y="200710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postselect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3232" y="2542032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CCFBF1"/>
          </a:solidFill>
          <a:ln w="1016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610612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coherent_syndrome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10712" y="2542032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2610612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coherent_frame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08192" y="2542032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EDE9FE"/>
          </a:solidFill>
          <a:ln w="1016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2610612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reset_clean</a:t>
            </a:r>
            <a:endParaRPr lang="en-US" sz="880" dirty="0">
              <a:solidFill>
                <a:srgbClr val="0F172A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240" y="3127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 verification method 划分 atom，而不是按 protocol 名字堆 primitives；避免一个过强的 apply U 隐藏任意物理 schedule。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804672" y="370332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" y="3703320"/>
            <a:ext cx="100584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8496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Switch(c1→c2)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178808"/>
            <a:ext cx="2852928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pauli_check target stabilizers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switch syndrome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corr_switch(f)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4480560" y="370332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0" y="3703320"/>
            <a:ext cx="10058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38496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InjectT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81728" y="4178808"/>
            <a:ext cx="2852928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pauli_check injection observable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measurement syndrome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correction; consume m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156448" y="370332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56448" y="3703320"/>
            <a:ext cx="100584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7616" y="38496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Surface15to1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57616" y="4178808"/>
            <a:ext cx="2852928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 raw states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clifford distillation layer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postselect; alloc TState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2029968" y="548640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72554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0" y="5623560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R(v) ⇓ α₁; α₂; …; αₙ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AtomSound(αᵢ) + type/effect composition  ⇒  RuleSound(R)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LIBRARY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rule interface：导入协议时携带前提、效应和证书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371600"/>
            <a:ext cx="5166360" cy="2788920"/>
          </a:xfrm>
          <a:prstGeom prst="roundRect">
            <a:avLst>
              <a:gd name="adj" fmla="val 196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48371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rule R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params: θ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pre:    precondition over Ω, Γ, Δ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op:     backend protocol / schedule template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atoms:  optional α₁;…;αₙ expansion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post:   output Ω′, Γ′, Δ′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effect: E(θ)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cert:   proof obligations / certificate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629400" y="1435608"/>
            <a:ext cx="4297680" cy="804672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29400" y="1435608"/>
            <a:ext cx="100584" cy="804672"/>
          </a:xfrm>
          <a:prstGeom prst="rect">
            <a:avLst/>
          </a:prstGeom>
          <a:solidFill>
            <a:srgbClr val="1580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0568" y="15819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30568" y="1911095"/>
            <a:ext cx="39502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由 CiPR rule checker 完整验证；soundness theorem 默认接受。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629400" y="2459736"/>
            <a:ext cx="4297680" cy="804672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459736"/>
            <a:ext cx="10058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26060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30568" y="2935224"/>
            <a:ext cx="39502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由外部 proof artifact / simulator certificate / Coq/Lean/SMT 通过小接口导入。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629400" y="3483864"/>
            <a:ext cx="4297680" cy="804672"/>
          </a:xfrm>
          <a:prstGeom prst="roundRect">
            <a:avLst>
              <a:gd name="adj" fmla="val 9091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3483864"/>
            <a:ext cx="100584" cy="804672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36301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30568" y="3959352"/>
            <a:ext cx="395020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只给 conditional soundness；假设写入 sidecar。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1005840" y="49834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5102352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rule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44368" y="5148072"/>
            <a:ext cx="493776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48463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4965192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checker / solver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proof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5148072"/>
            <a:ext cx="493776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8463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965192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library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23960" y="5148072"/>
            <a:ext cx="493776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91472" y="498348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64624" y="5102352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SOUNDNESS STORY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主定理：typed derivation + valid certs ⇒ logical soundness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3232" y="1353312"/>
            <a:ext cx="5394960" cy="3017520"/>
          </a:xfrm>
          <a:prstGeom prst="roundRect">
            <a:avLst>
              <a:gd name="adj" fmla="val 181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490472"/>
            <a:ext cx="50657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Ω; Γ; Δ ⊢ P : A ! E ▷ 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AllCertOK(M.certs)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Then, when mode(A)=State: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StateCorr_E.ε(P, erase(P))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∧ EffOK(P,E) ∧ MetaOK(P,M)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When mode(A)=Observable: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ObsCorr_E.ε(P, erase(P), O_A)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∧ EffOK(P,E) ∧ MetaOK(P,M)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6629400" y="1472184"/>
            <a:ext cx="2011680" cy="1060704"/>
          </a:xfrm>
          <a:prstGeom prst="roundRect">
            <a:avLst>
              <a:gd name="adj" fmla="val 6897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29400" y="1472184"/>
            <a:ext cx="100584" cy="1060704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0568" y="16184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soundness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830568" y="1947672"/>
            <a:ext cx="16642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每个 imported rule 的 RuleSound 由 certificate 支撑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8961120" y="1472184"/>
            <a:ext cx="2011680" cy="1060704"/>
          </a:xfrm>
          <a:prstGeom prst="roundRect">
            <a:avLst>
              <a:gd name="adj" fmla="val 6897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0" y="1472184"/>
            <a:ext cx="100584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62288" y="16184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soundness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162288" y="1947672"/>
            <a:ext cx="16642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组合后 physical trace 近似 erased logical program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6629400" y="2935224"/>
            <a:ext cx="2011680" cy="1060704"/>
          </a:xfrm>
          <a:prstGeom prst="roundRect">
            <a:avLst>
              <a:gd name="adj" fmla="val 6897"/>
            </a:avLst>
          </a:prstGeom>
          <a:solidFill>
            <a:srgbClr val="EDE9FE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935224"/>
            <a:ext cx="100584" cy="1060704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30815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soundness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30568" y="3410712"/>
            <a:ext cx="16642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lower(P) 的 peak qubits / cycles 被 E.S / E.T 上界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8961120" y="2935224"/>
            <a:ext cx="2011680" cy="1060704"/>
          </a:xfrm>
          <a:prstGeom prst="roundRect">
            <a:avLst>
              <a:gd name="adj" fmla="val 6897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0" y="2935224"/>
            <a:ext cx="100584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2288" y="30815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Optimization correctness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162288" y="3410712"/>
            <a:ext cx="16642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opt(P)=P′ 保持 erase(P′)=erase(P)，并改善或不劣化目标 metric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6629400" y="4800600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4965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Assumed rules do not disappear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6288" y="5276088"/>
            <a:ext cx="36576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stay in sidecar; not theorems.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Compiler architecture：从 logical IR 到 trace + sidecar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361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IR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2468880" y="1700784"/>
            <a:ext cx="347472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62656" y="1417320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5361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Type/effect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elaboration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718304" y="1700784"/>
            <a:ext cx="347472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1417320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15361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967728" y="1700784"/>
            <a:ext cx="347472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1504" y="1417320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15361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lowering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9217152" y="1700784"/>
            <a:ext cx="347472" cy="201168"/>
          </a:xfrm>
          <a:prstGeom prst="rightArrow">
            <a:avLst/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10928" y="1417320"/>
            <a:ext cx="1664208" cy="777240"/>
          </a:xfrm>
          <a:prstGeom prst="roundRect">
            <a:avLst>
              <a:gd name="adj" fmla="val 9412"/>
            </a:avLst>
          </a:prstGeom>
          <a:solidFill>
            <a:srgbClr val="FFE4E6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15361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BE1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/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BE1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sidecar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22960" y="297180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108960"/>
            <a:ext cx="5065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Planner objective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minimize weighted_sum(εL, physical_qubits, ftqc_cycles)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Constraints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εL ≤ budget, space ≤ N, time ≤ Tmax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backend ∈ {surface, color, neutral_atom, ion_trap}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mid_circuit_measurement_allowed ∈ {true,false}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trust_policy ∈ {CheckedOnly, CheckedOrCertified, AllowAssumed}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903720" y="3017520"/>
            <a:ext cx="4160520" cy="230428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3310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Sidecar records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51775" y="3822191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3730752"/>
            <a:ext cx="28346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rules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351775" y="4023359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3931920"/>
            <a:ext cx="28346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typing derivation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351775" y="422452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4133088"/>
            <a:ext cx="28346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bounds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351775" y="44256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4334256"/>
            <a:ext cx="28346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levels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351775" y="46268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4535424"/>
            <a:ext cx="28346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7351775" y="482803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07808" y="4736592"/>
            <a:ext cx="28346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postselection policy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7351775" y="5029200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07808" y="4937760"/>
            <a:ext cx="28346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 requirements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study：同一个 logical T，多条 certified acquisition paths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307592"/>
            <a:ext cx="2971800" cy="1481328"/>
          </a:xfrm>
          <a:prstGeom prst="roundRect">
            <a:avLst>
              <a:gd name="adj" fmla="val 3704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44751"/>
            <a:ext cx="26426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source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fun main(q : LogicalQubit)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T q; return q;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erase(main) = T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4069080" y="1243584"/>
            <a:ext cx="14630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23944" y="135331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532120" y="1243584"/>
            <a:ext cx="19659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6984" y="1353312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Primitive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498080" y="1243584"/>
            <a:ext cx="23317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2944" y="1353312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9829800" y="1243584"/>
            <a:ext cx="16002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84664" y="135331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069080" y="1627632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3944" y="175564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CodeSwitchT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532120" y="1627632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6984" y="175564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switch; transv; switch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98080" y="1627632"/>
            <a:ext cx="2331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2944" y="1755648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index + aux linearity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829800" y="1627632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84664" y="1755648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latency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69080" y="2194560"/>
            <a:ext cx="14630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944" y="232257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ZeroLevelT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32120" y="2194560"/>
            <a:ext cx="196596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232257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prepare; expand; inject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498080" y="2194560"/>
            <a:ext cx="23317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2322576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postselection + retry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829800" y="2194560"/>
            <a:ext cx="16002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84664" y="2322576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FTQC overhead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069080" y="2761488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23944" y="288950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Surface15to1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2761488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6984" y="2889504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distill; inject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498080" y="2761488"/>
            <a:ext cx="2331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2944" y="2889504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linear inputs + decoder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829800" y="2761488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84664" y="2889504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volume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069080" y="3328416"/>
            <a:ext cx="14630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23944" y="345643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TeleportT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32120" y="3328416"/>
            <a:ext cx="196596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86984" y="3456432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measure; decode; frame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498080" y="3328416"/>
            <a:ext cx="23317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52944" y="3456432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totality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829800" y="3328416"/>
            <a:ext cx="16002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84664" y="345643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 latency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069080" y="3895344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23944" y="4023359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SwitchMF_T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32120" y="3895344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86984" y="4023359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coherent feedback; reset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498080" y="3895344"/>
            <a:ext cx="2331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2944" y="4023359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cleanliness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829800" y="3895344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84664" y="4023359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measurement-free cost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97280" y="4535424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25880" y="4828031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每个 case 固定输出：source → elaboration → erase(P) → derivation → certs → theorem → effect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CASE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Parameterized dense region：Acquire[g] 不是 syntactic sugar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371600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region(nT,nCCZ)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for i in 1..nT:  T qi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for j in 1..nCCZ: CCZ aj bj cj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8032" y="1444752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Magic-only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+ inject per gate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7178040" y="1325880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1192" y="1444752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switch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in → transv/native → switch out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9829800" y="13258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2952" y="144475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switch + sparse injection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291840"/>
            <a:ext cx="51114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E_magic(nT,nCCZ)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= nT·E_T_factory + nCCZ·E_CCZ_factory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E_switch(nT,nCCZ)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= E_switch_in + nT·E_transv_T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+ nCCZ·E_transv_CCZ + E_switch_out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E_hybrid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= E_switch(dense) + E_magic(sparse)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6949440" y="329184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35661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Break-even frontier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0" y="3995928"/>
            <a:ext cx="36118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better when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cost(switch_in + switch_out) &lt;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nT_dense·ΔT + nCCZ_dense·ΔCCZ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4636008"/>
            <a:ext cx="3383280" cy="310896"/>
          </a:xfrm>
          <a:prstGeom prst="roundRect">
            <a:avLst>
              <a:gd name="adj" fmla="val 41176"/>
            </a:avLst>
          </a:prstGeom>
          <a:solidFill>
            <a:srgbClr val="FFE4E6"/>
          </a:solidFill>
          <a:ln w="10160">
            <a:solidFill>
              <a:srgbClr val="BE1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4704588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E1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 chooses only among certificate-valid plans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REJECTION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Negative cases：类型系统通过拒绝建立可信边界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23444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234440"/>
            <a:ext cx="100584" cy="132588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3807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N1 Unsupported capability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950976" y="1709928"/>
            <a:ext cx="45445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: Q[Steane3,3,State]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transv T q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Reject: No CapTrans(Steane3,T)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6327648" y="123444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7648" y="1234440"/>
            <a:ext cx="100584" cy="132588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3807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N2 Double magic use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528816" y="1709928"/>
            <a:ext cx="45445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: TState[Surface,d,ε]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T q m; inject T r m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Reject: m consumed by first inject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749808" y="310896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E4E6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108960"/>
            <a:ext cx="100584" cy="132588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2552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N3 Observable as State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950976" y="3584448"/>
            <a:ext cx="45445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qobs : Q[c,d,Observable]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T qobs m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Reject: injection requires State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6327648" y="310896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EF3C7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F172A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3108960"/>
            <a:ext cx="10058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32552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N4 Strict trust policy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528816" y="3584448"/>
            <a:ext cx="4544568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HardwareTailoredT.level = Assumed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= CheckedOrCertifiedOnly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or emit conditional sidecar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1965960" y="5303520"/>
            <a:ext cx="827532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5468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Reject invalid FTQC composition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931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汇报结论与后续实现路线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4672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417320"/>
            <a:ext cx="100584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63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Acquire[g] is real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4453128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 magic/code-switch/teleportation/measurement-free path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6336792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417320"/>
            <a:ext cx="10058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63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indices matter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537960" y="1892808"/>
            <a:ext cx="4453128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防止在错误 code 上使用 backend-specific capability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804672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2743200"/>
            <a:ext cx="10058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895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Linearity matters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005840" y="3218688"/>
            <a:ext cx="4453128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防止 magic / aux resource 被重复消费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336792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6792" y="2743200"/>
            <a:ext cx="100584" cy="960120"/>
          </a:xfrm>
          <a:prstGeom prst="rect">
            <a:avLst/>
          </a:prstGeom>
          <a:solidFill>
            <a:srgbClr val="BE1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8895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Certificates matter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537960" y="3218688"/>
            <a:ext cx="4453128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区分 checked theorem 与 conditional engineering assumption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1078992" y="4526280"/>
            <a:ext cx="10012680" cy="91440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7000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prototype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56432" y="4718304"/>
            <a:ext cx="7269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checker → backend profiles → T / TTT / CCZ / dense-region workloads → Stim / OpenQASM / JSON sidecar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961888"/>
            <a:ext cx="105613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Most-used source threads: Bravyi–Kitaev magic states; Litinski factories; zero-level / constant-time / constant-overhead MSD; code switching; measurement-free FT; low-overhead transversal FT; POPL-style resource typing and parameterized verification.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48640" y="6473952"/>
            <a:ext cx="10607040" cy="0"/>
          </a:xfrm>
          <a:prstGeom prst="line">
            <a:avLst/>
          </a:prstGeom>
          <a:noFill/>
          <a:ln w="889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CiPR-FTQC · academic briefing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FTQP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CiPR-FTQC: Code-Indexed Probabilistic Resource Calculus</dc:title>
  <dc:subject>Academic presentation generated from code_indexed_probabilistic_resource_calculus.md</dc:subject>
  <dc:creator>GitHub Copilot</dc:creator>
  <cp:lastModifiedBy>GitHub Copilot</cp:lastModifiedBy>
  <cp:revision>1</cp:revision>
  <dcterms:created xsi:type="dcterms:W3CDTF">2026-05-28T13:21:47Z</dcterms:created>
  <dcterms:modified xsi:type="dcterms:W3CDTF">2026-05-28T13:21:47Z</dcterms:modified>
</cp:coreProperties>
</file>